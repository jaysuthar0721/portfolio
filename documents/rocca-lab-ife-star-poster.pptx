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44"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663300"/>
    <a:srgbClr val="800000"/>
    <a:srgbClr val="1E4D2B"/>
    <a:srgbClr val="829A89"/>
    <a:srgbClr val="C7D2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30" autoAdjust="0"/>
    <p:restoredTop sz="94660"/>
  </p:normalViewPr>
  <p:slideViewPr>
    <p:cSldViewPr snapToGrid="0" showGuides="1">
      <p:cViewPr>
        <p:scale>
          <a:sx n="29" d="100"/>
          <a:sy n="29" d="100"/>
        </p:scale>
        <p:origin x="-620" y="-464"/>
      </p:cViewPr>
      <p:guideLst>
        <p:guide orient="horz" pos="10344"/>
        <p:guide pos="13824"/>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639FF9-94BF-4EB6-9C80-994ABD1C50C3}" type="datetimeFigureOut">
              <a:rPr lang="en-US" smtClean="0"/>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D18325-5DE9-4F5E-93A1-5DC8D4684140}" type="slidenum">
              <a:rPr lang="en-US" smtClean="0"/>
              <a:t>‹#›</a:t>
            </a:fld>
            <a:endParaRPr lang="en-US" dirty="0"/>
          </a:p>
        </p:txBody>
      </p:sp>
    </p:spTree>
    <p:extLst>
      <p:ext uri="{BB962C8B-B14F-4D97-AF65-F5344CB8AC3E}">
        <p14:creationId xmlns:p14="http://schemas.microsoft.com/office/powerpoint/2010/main" val="2318412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639FF9-94BF-4EB6-9C80-994ABD1C50C3}" type="datetimeFigureOut">
              <a:rPr lang="en-US" smtClean="0"/>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D18325-5DE9-4F5E-93A1-5DC8D4684140}" type="slidenum">
              <a:rPr lang="en-US" smtClean="0"/>
              <a:t>‹#›</a:t>
            </a:fld>
            <a:endParaRPr lang="en-US" dirty="0"/>
          </a:p>
        </p:txBody>
      </p:sp>
    </p:spTree>
    <p:extLst>
      <p:ext uri="{BB962C8B-B14F-4D97-AF65-F5344CB8AC3E}">
        <p14:creationId xmlns:p14="http://schemas.microsoft.com/office/powerpoint/2010/main" val="2005543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639FF9-94BF-4EB6-9C80-994ABD1C50C3}" type="datetimeFigureOut">
              <a:rPr lang="en-US" smtClean="0"/>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D18325-5DE9-4F5E-93A1-5DC8D4684140}" type="slidenum">
              <a:rPr lang="en-US" smtClean="0"/>
              <a:t>‹#›</a:t>
            </a:fld>
            <a:endParaRPr lang="en-US" dirty="0"/>
          </a:p>
        </p:txBody>
      </p:sp>
    </p:spTree>
    <p:extLst>
      <p:ext uri="{BB962C8B-B14F-4D97-AF65-F5344CB8AC3E}">
        <p14:creationId xmlns:p14="http://schemas.microsoft.com/office/powerpoint/2010/main" val="1088623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639FF9-94BF-4EB6-9C80-994ABD1C50C3}" type="datetimeFigureOut">
              <a:rPr lang="en-US" smtClean="0"/>
              <a:t>7/31/2025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D18325-5DE9-4F5E-93A1-5DC8D4684140}" type="slidenum">
              <a:rPr lang="en-US" smtClean="0"/>
              <a:t>‹#›</a:t>
            </a:fld>
            <a:endParaRPr lang="en-US" dirty="0"/>
          </a:p>
        </p:txBody>
      </p:sp>
    </p:spTree>
    <p:extLst>
      <p:ext uri="{BB962C8B-B14F-4D97-AF65-F5344CB8AC3E}">
        <p14:creationId xmlns:p14="http://schemas.microsoft.com/office/powerpoint/2010/main" val="3071679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639FF9-94BF-4EB6-9C80-994ABD1C50C3}" type="datetimeFigureOut">
              <a:rPr lang="en-US" smtClean="0"/>
              <a:t>7/31/2025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4D18325-5DE9-4F5E-93A1-5DC8D4684140}" type="slidenum">
              <a:rPr lang="en-US" smtClean="0"/>
              <a:t>‹#›</a:t>
            </a:fld>
            <a:endParaRPr lang="en-US" dirty="0"/>
          </a:p>
        </p:txBody>
      </p:sp>
    </p:spTree>
    <p:extLst>
      <p:ext uri="{BB962C8B-B14F-4D97-AF65-F5344CB8AC3E}">
        <p14:creationId xmlns:p14="http://schemas.microsoft.com/office/powerpoint/2010/main" val="3366969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639FF9-94BF-4EB6-9C80-994ABD1C50C3}" type="datetimeFigureOut">
              <a:rPr lang="en-US" smtClean="0"/>
              <a:t>7/31/2025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4D18325-5DE9-4F5E-93A1-5DC8D4684140}" type="slidenum">
              <a:rPr lang="en-US" smtClean="0"/>
              <a:t>‹#›</a:t>
            </a:fld>
            <a:endParaRPr lang="en-US" dirty="0"/>
          </a:p>
        </p:txBody>
      </p:sp>
    </p:spTree>
    <p:extLst>
      <p:ext uri="{BB962C8B-B14F-4D97-AF65-F5344CB8AC3E}">
        <p14:creationId xmlns:p14="http://schemas.microsoft.com/office/powerpoint/2010/main" val="704365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639FF9-94BF-4EB6-9C80-994ABD1C50C3}" type="datetimeFigureOut">
              <a:rPr lang="en-US" smtClean="0"/>
              <a:t>7/31/2025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4D18325-5DE9-4F5E-93A1-5DC8D4684140}" type="slidenum">
              <a:rPr lang="en-US" smtClean="0"/>
              <a:t>‹#›</a:t>
            </a:fld>
            <a:endParaRPr lang="en-US" dirty="0"/>
          </a:p>
        </p:txBody>
      </p:sp>
    </p:spTree>
    <p:extLst>
      <p:ext uri="{BB962C8B-B14F-4D97-AF65-F5344CB8AC3E}">
        <p14:creationId xmlns:p14="http://schemas.microsoft.com/office/powerpoint/2010/main" val="806374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Edit Master text styles</a:t>
            </a:r>
          </a:p>
        </p:txBody>
      </p:sp>
      <p:sp>
        <p:nvSpPr>
          <p:cNvPr id="5" name="Date Placeholder 4"/>
          <p:cNvSpPr>
            <a:spLocks noGrp="1"/>
          </p:cNvSpPr>
          <p:nvPr>
            <p:ph type="dt" sz="half" idx="10"/>
          </p:nvPr>
        </p:nvSpPr>
        <p:spPr/>
        <p:txBody>
          <a:bodyPr/>
          <a:lstStyle/>
          <a:p>
            <a:fld id="{96639FF9-94BF-4EB6-9C80-994ABD1C50C3}" type="datetimeFigureOut">
              <a:rPr lang="en-US" smtClean="0"/>
              <a:t>7/31/2025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D18325-5DE9-4F5E-93A1-5DC8D4684140}" type="slidenum">
              <a:rPr lang="en-US" smtClean="0"/>
              <a:t>‹#›</a:t>
            </a:fld>
            <a:endParaRPr lang="en-US" dirty="0"/>
          </a:p>
        </p:txBody>
      </p:sp>
    </p:spTree>
    <p:extLst>
      <p:ext uri="{BB962C8B-B14F-4D97-AF65-F5344CB8AC3E}">
        <p14:creationId xmlns:p14="http://schemas.microsoft.com/office/powerpoint/2010/main" val="4017103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dirty="0"/>
              <a:t>Click icon to add picture</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Edit Master text styles</a:t>
            </a:r>
          </a:p>
        </p:txBody>
      </p:sp>
      <p:sp>
        <p:nvSpPr>
          <p:cNvPr id="5" name="Date Placeholder 4"/>
          <p:cNvSpPr>
            <a:spLocks noGrp="1"/>
          </p:cNvSpPr>
          <p:nvPr>
            <p:ph type="dt" sz="half" idx="10"/>
          </p:nvPr>
        </p:nvSpPr>
        <p:spPr/>
        <p:txBody>
          <a:bodyPr/>
          <a:lstStyle/>
          <a:p>
            <a:fld id="{96639FF9-94BF-4EB6-9C80-994ABD1C50C3}" type="datetimeFigureOut">
              <a:rPr lang="en-US" smtClean="0"/>
              <a:t>7/31/2025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D18325-5DE9-4F5E-93A1-5DC8D4684140}" type="slidenum">
              <a:rPr lang="en-US" smtClean="0"/>
              <a:t>‹#›</a:t>
            </a:fld>
            <a:endParaRPr lang="en-US" dirty="0"/>
          </a:p>
        </p:txBody>
      </p:sp>
    </p:spTree>
    <p:extLst>
      <p:ext uri="{BB962C8B-B14F-4D97-AF65-F5344CB8AC3E}">
        <p14:creationId xmlns:p14="http://schemas.microsoft.com/office/powerpoint/2010/main" val="1700095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639FF9-94BF-4EB6-9C80-994ABD1C50C3}" type="datetimeFigureOut">
              <a:rPr lang="en-US" smtClean="0"/>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D18325-5DE9-4F5E-93A1-5DC8D4684140}" type="slidenum">
              <a:rPr lang="en-US" smtClean="0"/>
              <a:t>‹#›</a:t>
            </a:fld>
            <a:endParaRPr lang="en-US" dirty="0"/>
          </a:p>
        </p:txBody>
      </p:sp>
    </p:spTree>
    <p:extLst>
      <p:ext uri="{BB962C8B-B14F-4D97-AF65-F5344CB8AC3E}">
        <p14:creationId xmlns:p14="http://schemas.microsoft.com/office/powerpoint/2010/main" val="3416054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639FF9-94BF-4EB6-9C80-994ABD1C50C3}" type="datetimeFigureOut">
              <a:rPr lang="en-US" smtClean="0"/>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D18325-5DE9-4F5E-93A1-5DC8D4684140}" type="slidenum">
              <a:rPr lang="en-US" smtClean="0"/>
              <a:t>‹#›</a:t>
            </a:fld>
            <a:endParaRPr lang="en-US" dirty="0"/>
          </a:p>
        </p:txBody>
      </p:sp>
    </p:spTree>
    <p:extLst>
      <p:ext uri="{BB962C8B-B14F-4D97-AF65-F5344CB8AC3E}">
        <p14:creationId xmlns:p14="http://schemas.microsoft.com/office/powerpoint/2010/main" val="3190562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96639FF9-94BF-4EB6-9C80-994ABD1C50C3}" type="datetimeFigureOut">
              <a:rPr lang="en-US" smtClean="0"/>
              <a:t>7/31/2025</a:t>
            </a:fld>
            <a:endParaRPr lang="en-US" dirty="0"/>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A4D18325-5DE9-4F5E-93A1-5DC8D4684140}" type="slidenum">
              <a:rPr lang="en-US" smtClean="0"/>
              <a:t>‹#›</a:t>
            </a:fld>
            <a:endParaRPr lang="en-US" dirty="0"/>
          </a:p>
        </p:txBody>
      </p:sp>
    </p:spTree>
    <p:extLst>
      <p:ext uri="{BB962C8B-B14F-4D97-AF65-F5344CB8AC3E}">
        <p14:creationId xmlns:p14="http://schemas.microsoft.com/office/powerpoint/2010/main" val="126895921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tif"/><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jpg"/><Relationship Id="rId7" Type="http://schemas.openxmlformats.org/officeDocument/2006/relationships/image" Target="../media/image6.tiff"/><Relationship Id="rId12" Type="http://schemas.openxmlformats.org/officeDocument/2006/relationships/image" Target="../media/image11.png"/><Relationship Id="rId17" Type="http://schemas.openxmlformats.org/officeDocument/2006/relationships/image" Target="../media/image16.jpe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jpg"/><Relationship Id="rId19" Type="http://schemas.openxmlformats.org/officeDocument/2006/relationships/image" Target="../media/image18.jpeg"/><Relationship Id="rId4" Type="http://schemas.openxmlformats.org/officeDocument/2006/relationships/image" Target="../media/image3.jpg"/><Relationship Id="rId9" Type="http://schemas.openxmlformats.org/officeDocument/2006/relationships/image" Target="../media/image8.jp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 name="Rectangle 203">
            <a:extLst>
              <a:ext uri="{FF2B5EF4-FFF2-40B4-BE49-F238E27FC236}">
                <a16:creationId xmlns:a16="http://schemas.microsoft.com/office/drawing/2014/main" id="{2D3861AF-3116-59CD-E681-4F618DEAA02A}"/>
              </a:ext>
            </a:extLst>
          </p:cNvPr>
          <p:cNvSpPr/>
          <p:nvPr/>
        </p:nvSpPr>
        <p:spPr>
          <a:xfrm>
            <a:off x="29450910" y="3784622"/>
            <a:ext cx="14187081" cy="21235680"/>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0" name="Rectangle 46"/>
          <p:cNvSpPr>
            <a:spLocks noChangeArrowheads="1"/>
          </p:cNvSpPr>
          <p:nvPr/>
        </p:nvSpPr>
        <p:spPr bwMode="auto">
          <a:xfrm>
            <a:off x="32794010" y="458080"/>
            <a:ext cx="5391639" cy="1875112"/>
          </a:xfrm>
          <a:prstGeom prst="rect">
            <a:avLst/>
          </a:prstGeom>
          <a:noFill/>
          <a:ln w="9525">
            <a:noFill/>
            <a:miter lim="800000"/>
            <a:headEnd/>
            <a:tailEnd/>
          </a:ln>
        </p:spPr>
        <p:txBody>
          <a:bodyPr lIns="69983" tIns="34998" rIns="69983" bIns="34998"/>
          <a:lstStyle/>
          <a:p>
            <a:endParaRPr lang="en-US" sz="1667" dirty="0">
              <a:latin typeface="Arial" panose="020B0604020202020204" pitchFamily="34" charset="0"/>
              <a:cs typeface="Arial" panose="020B0604020202020204" pitchFamily="34" charset="0"/>
            </a:endParaRPr>
          </a:p>
        </p:txBody>
      </p:sp>
      <p:sp>
        <p:nvSpPr>
          <p:cNvPr id="11" name="Text Box 673"/>
          <p:cNvSpPr txBox="1">
            <a:spLocks noChangeArrowheads="1"/>
          </p:cNvSpPr>
          <p:nvPr/>
        </p:nvSpPr>
        <p:spPr bwMode="auto">
          <a:xfrm>
            <a:off x="4080115" y="348001"/>
            <a:ext cx="35473086" cy="1614846"/>
          </a:xfrm>
          <a:prstGeom prst="rect">
            <a:avLst/>
          </a:prstGeom>
          <a:noFill/>
          <a:ln w="12700" cap="sq">
            <a:noFill/>
            <a:miter lim="800000"/>
            <a:headEnd type="none" w="sm" len="sm"/>
            <a:tailEnd type="none" w="sm" len="sm"/>
          </a:ln>
        </p:spPr>
        <p:txBody>
          <a:bodyPr wrap="square" lIns="327909" tIns="163958" rIns="327909" bIns="20999">
            <a:spAutoFit/>
          </a:bodyPr>
          <a:lstStyle/>
          <a:p>
            <a:pPr algn="ctr">
              <a:lnSpc>
                <a:spcPct val="80000"/>
              </a:lnSpc>
            </a:pPr>
            <a:r>
              <a:rPr lang="en-US" sz="5800" b="1" dirty="0">
                <a:solidFill>
                  <a:srgbClr val="000000"/>
                </a:solidFill>
                <a:latin typeface="Arial" panose="020B0604020202020204" pitchFamily="34" charset="0"/>
                <a:cs typeface="Arial" panose="020B0604020202020204" pitchFamily="34" charset="0"/>
              </a:rPr>
              <a:t>Creating nanostructured targets to increase laser absorption and ion acceleration for inertial fusion applications</a:t>
            </a:r>
          </a:p>
        </p:txBody>
      </p:sp>
      <p:sp>
        <p:nvSpPr>
          <p:cNvPr id="16" name="Rectangle 15"/>
          <p:cNvSpPr/>
          <p:nvPr/>
        </p:nvSpPr>
        <p:spPr>
          <a:xfrm>
            <a:off x="3911903" y="1940532"/>
            <a:ext cx="35065412" cy="1338828"/>
          </a:xfrm>
          <a:prstGeom prst="rect">
            <a:avLst/>
          </a:prstGeom>
        </p:spPr>
        <p:txBody>
          <a:bodyPr wrap="square">
            <a:spAutoFit/>
          </a:bodyPr>
          <a:lstStyle/>
          <a:p>
            <a:pPr algn="ctr">
              <a:lnSpc>
                <a:spcPct val="90000"/>
              </a:lnSpc>
            </a:pPr>
            <a:r>
              <a:rPr lang="en-US" sz="3000" b="1" dirty="0">
                <a:latin typeface="Arial" panose="020B0604020202020204" pitchFamily="34" charset="0"/>
                <a:cs typeface="Arial" panose="020B0604020202020204" pitchFamily="34" charset="0"/>
              </a:rPr>
              <a:t>Jay Suthar</a:t>
            </a:r>
            <a:r>
              <a:rPr lang="en-US" sz="3000" b="1" baseline="30000" dirty="0">
                <a:latin typeface="Arial" panose="020B0604020202020204" pitchFamily="34" charset="0"/>
                <a:cs typeface="Arial" panose="020B0604020202020204" pitchFamily="34" charset="0"/>
              </a:rPr>
              <a:t>1</a:t>
            </a:r>
            <a:r>
              <a:rPr lang="en-US" sz="3000" b="1" dirty="0">
                <a:latin typeface="Arial" panose="020B0604020202020204" pitchFamily="34" charset="0"/>
                <a:cs typeface="Arial" panose="020B0604020202020204" pitchFamily="34" charset="0"/>
              </a:rPr>
              <a:t>, Natalie Ingegneri</a:t>
            </a:r>
            <a:r>
              <a:rPr lang="en-US" sz="3000" b="1" baseline="30000" dirty="0">
                <a:latin typeface="Arial" panose="020B0604020202020204" pitchFamily="34" charset="0"/>
                <a:cs typeface="Arial" panose="020B0604020202020204" pitchFamily="34" charset="0"/>
              </a:rPr>
              <a:t>1</a:t>
            </a:r>
            <a:r>
              <a:rPr lang="en-US" sz="3000" b="1" dirty="0">
                <a:latin typeface="Arial" panose="020B0604020202020204" pitchFamily="34" charset="0"/>
                <a:cs typeface="Arial" panose="020B0604020202020204" pitchFamily="34" charset="0"/>
              </a:rPr>
              <a:t>, Houston Davis</a:t>
            </a:r>
            <a:r>
              <a:rPr lang="en-US" sz="3000" b="1" baseline="30000" dirty="0">
                <a:latin typeface="Arial" panose="020B0604020202020204" pitchFamily="34" charset="0"/>
                <a:cs typeface="Arial" panose="020B0604020202020204" pitchFamily="34" charset="0"/>
              </a:rPr>
              <a:t>4</a:t>
            </a:r>
            <a:r>
              <a:rPr lang="en-US" sz="3000" b="1" dirty="0">
                <a:latin typeface="Arial" panose="020B0604020202020204" pitchFamily="34" charset="0"/>
                <a:cs typeface="Arial" panose="020B0604020202020204" pitchFamily="34" charset="0"/>
              </a:rPr>
              <a:t>, Thaddeus Hendrickson</a:t>
            </a:r>
            <a:r>
              <a:rPr lang="en-US" sz="3000" b="1" baseline="30000" dirty="0">
                <a:latin typeface="Arial" panose="020B0604020202020204" pitchFamily="34" charset="0"/>
                <a:cs typeface="Arial" panose="020B0604020202020204" pitchFamily="34" charset="0"/>
              </a:rPr>
              <a:t>4</a:t>
            </a:r>
            <a:r>
              <a:rPr lang="en-US" sz="3000" b="1" dirty="0">
                <a:latin typeface="Arial" panose="020B0604020202020204" pitchFamily="34" charset="0"/>
                <a:cs typeface="Arial" panose="020B0604020202020204" pitchFamily="34" charset="0"/>
              </a:rPr>
              <a:t>,</a:t>
            </a:r>
            <a:r>
              <a:rPr lang="en-US" sz="3000" b="1" baseline="30000" dirty="0">
                <a:latin typeface="Arial" panose="020B0604020202020204" pitchFamily="34" charset="0"/>
                <a:cs typeface="Arial" panose="020B0604020202020204" pitchFamily="34" charset="0"/>
              </a:rPr>
              <a:t> </a:t>
            </a:r>
            <a:r>
              <a:rPr lang="en-US" sz="3000" b="1" dirty="0">
                <a:latin typeface="Arial" panose="020B0604020202020204" pitchFamily="34" charset="0"/>
                <a:cs typeface="Arial" panose="020B0604020202020204" pitchFamily="34" charset="0"/>
              </a:rPr>
              <a:t>Jaden Hoeschtstetter</a:t>
            </a:r>
            <a:r>
              <a:rPr lang="en-US" sz="3000" b="1" baseline="30000" dirty="0">
                <a:latin typeface="Arial" panose="020B0604020202020204" pitchFamily="34" charset="0"/>
                <a:cs typeface="Arial" panose="020B0604020202020204" pitchFamily="34" charset="0"/>
              </a:rPr>
              <a:t>2</a:t>
            </a:r>
            <a:r>
              <a:rPr lang="en-US" sz="3000" b="1" dirty="0">
                <a:latin typeface="Arial" panose="020B0604020202020204" pitchFamily="34" charset="0"/>
                <a:cs typeface="Arial" panose="020B0604020202020204" pitchFamily="34" charset="0"/>
              </a:rPr>
              <a:t>, Nashad Rahman</a:t>
            </a:r>
            <a:r>
              <a:rPr lang="en-US" sz="3000" b="1" baseline="30000" dirty="0">
                <a:latin typeface="Arial" panose="020B0604020202020204" pitchFamily="34" charset="0"/>
                <a:cs typeface="Arial" panose="020B0604020202020204" pitchFamily="34" charset="0"/>
              </a:rPr>
              <a:t>2</a:t>
            </a:r>
            <a:r>
              <a:rPr lang="en-US" sz="3000" b="1" dirty="0">
                <a:latin typeface="Arial" panose="020B0604020202020204" pitchFamily="34" charset="0"/>
                <a:cs typeface="Arial" panose="020B0604020202020204" pitchFamily="34" charset="0"/>
              </a:rPr>
              <a:t>, M. Gabriela Capeluto</a:t>
            </a:r>
            <a:r>
              <a:rPr lang="en-US" sz="3000" b="1" baseline="30000" dirty="0">
                <a:latin typeface="Arial" panose="020B0604020202020204" pitchFamily="34" charset="0"/>
                <a:cs typeface="Arial" panose="020B0604020202020204" pitchFamily="34" charset="0"/>
              </a:rPr>
              <a:t>3</a:t>
            </a:r>
            <a:r>
              <a:rPr lang="en-US" sz="3000" b="1" dirty="0">
                <a:latin typeface="Arial" panose="020B0604020202020204" pitchFamily="34" charset="0"/>
                <a:cs typeface="Arial" panose="020B0604020202020204" pitchFamily="34" charset="0"/>
              </a:rPr>
              <a:t> and Jorge Rocca</a:t>
            </a:r>
            <a:r>
              <a:rPr lang="en-US" sz="3000" b="1" baseline="30000" dirty="0">
                <a:latin typeface="Arial" panose="020B0604020202020204" pitchFamily="34" charset="0"/>
                <a:cs typeface="Arial" panose="020B0604020202020204" pitchFamily="34" charset="0"/>
              </a:rPr>
              <a:t>1,2</a:t>
            </a:r>
            <a:endParaRPr lang="en-US" sz="3000" b="1" dirty="0">
              <a:latin typeface="Arial" panose="020B0604020202020204" pitchFamily="34" charset="0"/>
              <a:cs typeface="Arial" panose="020B0604020202020204" pitchFamily="34" charset="0"/>
            </a:endParaRPr>
          </a:p>
          <a:p>
            <a:pPr algn="ctr">
              <a:lnSpc>
                <a:spcPct val="90000"/>
              </a:lnSpc>
            </a:pPr>
            <a:r>
              <a:rPr lang="en-US" sz="3000" b="1" baseline="30000" dirty="0">
                <a:latin typeface="Arial" panose="020B0604020202020204" pitchFamily="34" charset="0"/>
                <a:cs typeface="Arial" panose="020B0604020202020204" pitchFamily="34" charset="0"/>
              </a:rPr>
              <a:t>1</a:t>
            </a:r>
            <a:r>
              <a:rPr lang="en-US" sz="3000" b="1" dirty="0">
                <a:latin typeface="Arial" panose="020B0604020202020204" pitchFamily="34" charset="0"/>
                <a:cs typeface="Arial" panose="020B0604020202020204" pitchFamily="34" charset="0"/>
              </a:rPr>
              <a:t>Department of Electrical Engineering, Colorado State University, Fort Collins, CO, 80523, USA; </a:t>
            </a:r>
            <a:r>
              <a:rPr lang="en-US" sz="3000" b="1" baseline="30000" dirty="0">
                <a:latin typeface="Arial" panose="020B0604020202020204" pitchFamily="34" charset="0"/>
                <a:cs typeface="Arial" panose="020B0604020202020204" pitchFamily="34" charset="0"/>
              </a:rPr>
              <a:t>2</a:t>
            </a:r>
            <a:r>
              <a:rPr lang="en-US" sz="3000" b="1" dirty="0">
                <a:latin typeface="Arial" panose="020B0604020202020204" pitchFamily="34" charset="0"/>
                <a:cs typeface="Arial" panose="020B0604020202020204" pitchFamily="34" charset="0"/>
              </a:rPr>
              <a:t>Department of Physics, Colorado State University, Fort Collins, CO, 80523, USA; 3Departamento de Física, Universidad de Buenos Aires-IFIBA, 1428 Buenos Aires, Argentina 1428</a:t>
            </a:r>
          </a:p>
        </p:txBody>
      </p:sp>
      <p:sp>
        <p:nvSpPr>
          <p:cNvPr id="19" name="Rectangle 18"/>
          <p:cNvSpPr/>
          <p:nvPr/>
        </p:nvSpPr>
        <p:spPr>
          <a:xfrm>
            <a:off x="354333" y="4783007"/>
            <a:ext cx="14039573" cy="4524315"/>
          </a:xfrm>
          <a:prstGeom prst="rect">
            <a:avLst/>
          </a:prstGeom>
        </p:spPr>
        <p:txBody>
          <a:bodyPr wrap="square" lIns="228600" rIns="91440">
            <a:spAutoFit/>
          </a:bodyPr>
          <a:lstStyle/>
          <a:p>
            <a:pPr algn="just">
              <a:spcBef>
                <a:spcPts val="1111"/>
              </a:spcBef>
              <a:spcAft>
                <a:spcPts val="1111"/>
              </a:spcAft>
            </a:pPr>
            <a:r>
              <a:rPr lang="en-US" sz="3200" dirty="0">
                <a:latin typeface="Arial" panose="020B0604020202020204" pitchFamily="34" charset="0"/>
                <a:cs typeface="Arial" panose="020B0604020202020204" pitchFamily="34" charset="0"/>
              </a:rPr>
              <a:t>Inertial fusion is of great interest as a sustainable energy source, with efficient laser light absorption by the target being a critical factor in optimizing inertial fusion processes. This study focuses on the fabrication and analysis of polyethylene and nickel nanowires, which enhance laser-matter interactions relevant to fusion applications. The research aims to improve nanowire fabrication process such that nanowire arrays can reliably be made more uniformly with thin substrates. Uniform and thin substrate arrays of nanowires will be crucial in experiments which seek to understand the interaction between laser and nanowires.</a:t>
            </a:r>
          </a:p>
        </p:txBody>
      </p:sp>
      <p:pic>
        <p:nvPicPr>
          <p:cNvPr id="93" name="Picture 2" descr="Signature | Brand | Colorado State University">
            <a:extLst>
              <a:ext uri="{FF2B5EF4-FFF2-40B4-BE49-F238E27FC236}">
                <a16:creationId xmlns:a16="http://schemas.microsoft.com/office/drawing/2014/main" id="{CAB5A814-E621-0ED5-7C19-A7D0CAE8EF3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59366"/>
          <a:stretch>
            <a:fillRect/>
          </a:stretch>
        </p:blipFill>
        <p:spPr bwMode="auto">
          <a:xfrm>
            <a:off x="300810" y="1739355"/>
            <a:ext cx="3989093" cy="1060076"/>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BDB126F-91DB-97C0-5658-73A3AE1781FF}"/>
              </a:ext>
            </a:extLst>
          </p:cNvPr>
          <p:cNvSpPr/>
          <p:nvPr/>
        </p:nvSpPr>
        <p:spPr>
          <a:xfrm>
            <a:off x="0" y="3196369"/>
            <a:ext cx="43625359" cy="369322"/>
          </a:xfrm>
          <a:prstGeom prst="rect">
            <a:avLst/>
          </a:prstGeom>
          <a:gradFill flip="none" rotWithShape="1">
            <a:gsLst>
              <a:gs pos="79000">
                <a:srgbClr val="663300"/>
              </a:gs>
              <a:gs pos="6422">
                <a:srgbClr val="FFFFCC"/>
              </a:gs>
              <a:gs pos="22000">
                <a:srgbClr val="FFFF00"/>
              </a:gs>
              <a:gs pos="39000">
                <a:srgbClr val="E6B707"/>
              </a:gs>
              <a:gs pos="53000">
                <a:schemeClr val="accent2">
                  <a:lumMod val="75000"/>
                </a:scheme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20A1B18-CC0B-D8FE-49BE-CCA5A7878B8B}"/>
              </a:ext>
            </a:extLst>
          </p:cNvPr>
          <p:cNvSpPr/>
          <p:nvPr/>
        </p:nvSpPr>
        <p:spPr>
          <a:xfrm>
            <a:off x="193234" y="3782253"/>
            <a:ext cx="14525533" cy="5664221"/>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0" name="TextBox 19">
            <a:extLst>
              <a:ext uri="{FF2B5EF4-FFF2-40B4-BE49-F238E27FC236}">
                <a16:creationId xmlns:a16="http://schemas.microsoft.com/office/drawing/2014/main" id="{29D92C26-E407-A5D7-07AE-200542971D5E}"/>
              </a:ext>
            </a:extLst>
          </p:cNvPr>
          <p:cNvSpPr txBox="1"/>
          <p:nvPr/>
        </p:nvSpPr>
        <p:spPr>
          <a:xfrm>
            <a:off x="3754234" y="4017206"/>
            <a:ext cx="6879045" cy="707886"/>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ABSTRACT</a:t>
            </a:r>
          </a:p>
        </p:txBody>
      </p:sp>
      <p:sp>
        <p:nvSpPr>
          <p:cNvPr id="21" name="Rectangle 20">
            <a:extLst>
              <a:ext uri="{FF2B5EF4-FFF2-40B4-BE49-F238E27FC236}">
                <a16:creationId xmlns:a16="http://schemas.microsoft.com/office/drawing/2014/main" id="{69886003-2E3E-B915-4765-8BA29E2AD769}"/>
              </a:ext>
            </a:extLst>
          </p:cNvPr>
          <p:cNvSpPr/>
          <p:nvPr/>
        </p:nvSpPr>
        <p:spPr>
          <a:xfrm>
            <a:off x="193235" y="9617899"/>
            <a:ext cx="14525532" cy="4506257"/>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3" name="TextBox 22">
            <a:extLst>
              <a:ext uri="{FF2B5EF4-FFF2-40B4-BE49-F238E27FC236}">
                <a16:creationId xmlns:a16="http://schemas.microsoft.com/office/drawing/2014/main" id="{80B795CB-AE0F-41FE-4423-0CB08687824B}"/>
              </a:ext>
            </a:extLst>
          </p:cNvPr>
          <p:cNvSpPr txBox="1"/>
          <p:nvPr/>
        </p:nvSpPr>
        <p:spPr>
          <a:xfrm>
            <a:off x="5156132" y="9799905"/>
            <a:ext cx="4075248" cy="707886"/>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MOTIVATION</a:t>
            </a:r>
          </a:p>
        </p:txBody>
      </p:sp>
      <p:sp>
        <p:nvSpPr>
          <p:cNvPr id="24" name="Rectangle 23">
            <a:extLst>
              <a:ext uri="{FF2B5EF4-FFF2-40B4-BE49-F238E27FC236}">
                <a16:creationId xmlns:a16="http://schemas.microsoft.com/office/drawing/2014/main" id="{B144E135-7D7B-96A3-5B8F-381C28FABDE3}"/>
              </a:ext>
            </a:extLst>
          </p:cNvPr>
          <p:cNvSpPr/>
          <p:nvPr/>
        </p:nvSpPr>
        <p:spPr>
          <a:xfrm>
            <a:off x="14940366" y="3782253"/>
            <a:ext cx="14323760" cy="21235680"/>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5" name="TextBox 24">
            <a:extLst>
              <a:ext uri="{FF2B5EF4-FFF2-40B4-BE49-F238E27FC236}">
                <a16:creationId xmlns:a16="http://schemas.microsoft.com/office/drawing/2014/main" id="{52AD4223-8776-8CA9-D96A-1F3662CB3D0D}"/>
              </a:ext>
            </a:extLst>
          </p:cNvPr>
          <p:cNvSpPr txBox="1"/>
          <p:nvPr/>
        </p:nvSpPr>
        <p:spPr>
          <a:xfrm>
            <a:off x="19110886" y="4017206"/>
            <a:ext cx="5403585" cy="707886"/>
          </a:xfrm>
          <a:prstGeom prst="rect">
            <a:avLst/>
          </a:prstGeom>
          <a:noFill/>
        </p:spPr>
        <p:txBody>
          <a:bodyPr wrap="square" rtlCol="0">
            <a:spAutoFit/>
          </a:bodyPr>
          <a:lstStyle/>
          <a:p>
            <a:r>
              <a:rPr lang="en-US" sz="4000" b="1" dirty="0">
                <a:latin typeface="Arial" panose="020B0604020202020204" pitchFamily="34" charset="0"/>
                <a:cs typeface="Arial" panose="020B0604020202020204" pitchFamily="34" charset="0"/>
              </a:rPr>
              <a:t>NICKEL NANOWIRES</a:t>
            </a:r>
          </a:p>
        </p:txBody>
      </p:sp>
      <p:sp>
        <p:nvSpPr>
          <p:cNvPr id="5" name="Rectangle 4">
            <a:extLst>
              <a:ext uri="{FF2B5EF4-FFF2-40B4-BE49-F238E27FC236}">
                <a16:creationId xmlns:a16="http://schemas.microsoft.com/office/drawing/2014/main" id="{ECC5424F-CC59-0BBE-4C18-874F20B1CA02}"/>
              </a:ext>
            </a:extLst>
          </p:cNvPr>
          <p:cNvSpPr/>
          <p:nvPr/>
        </p:nvSpPr>
        <p:spPr>
          <a:xfrm>
            <a:off x="193235" y="14310120"/>
            <a:ext cx="14525532" cy="16078055"/>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7" name="TextBox 6">
            <a:extLst>
              <a:ext uri="{FF2B5EF4-FFF2-40B4-BE49-F238E27FC236}">
                <a16:creationId xmlns:a16="http://schemas.microsoft.com/office/drawing/2014/main" id="{A6073B49-9FEF-C906-F026-05560C6C958C}"/>
              </a:ext>
            </a:extLst>
          </p:cNvPr>
          <p:cNvSpPr txBox="1"/>
          <p:nvPr/>
        </p:nvSpPr>
        <p:spPr>
          <a:xfrm>
            <a:off x="4102416" y="14474594"/>
            <a:ext cx="6182680" cy="707886"/>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EXPERIMENT DETAILS</a:t>
            </a:r>
          </a:p>
        </p:txBody>
      </p:sp>
      <p:sp>
        <p:nvSpPr>
          <p:cNvPr id="8" name="Rectangle 7">
            <a:extLst>
              <a:ext uri="{FF2B5EF4-FFF2-40B4-BE49-F238E27FC236}">
                <a16:creationId xmlns:a16="http://schemas.microsoft.com/office/drawing/2014/main" id="{2C9060A9-1F1B-954A-B74F-5F7A50835DDA}"/>
              </a:ext>
            </a:extLst>
          </p:cNvPr>
          <p:cNvSpPr/>
          <p:nvPr/>
        </p:nvSpPr>
        <p:spPr>
          <a:xfrm>
            <a:off x="15021048" y="25286473"/>
            <a:ext cx="28697625" cy="5067421"/>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9" name="TextBox 8">
            <a:extLst>
              <a:ext uri="{FF2B5EF4-FFF2-40B4-BE49-F238E27FC236}">
                <a16:creationId xmlns:a16="http://schemas.microsoft.com/office/drawing/2014/main" id="{34B5D8ED-0C47-3C56-BD0E-A42F322F156C}"/>
              </a:ext>
            </a:extLst>
          </p:cNvPr>
          <p:cNvSpPr txBox="1"/>
          <p:nvPr/>
        </p:nvSpPr>
        <p:spPr>
          <a:xfrm>
            <a:off x="16362325" y="26190000"/>
            <a:ext cx="25760206" cy="677108"/>
          </a:xfrm>
          <a:prstGeom prst="rect">
            <a:avLst/>
          </a:prstGeom>
          <a:noFill/>
        </p:spPr>
        <p:txBody>
          <a:bodyPr wrap="square" lIns="228600" tIns="91440" rIns="228600" bIns="91440" rtlCol="0">
            <a:spAutoFit/>
          </a:bodyPr>
          <a:lstStyle/>
          <a:p>
            <a:pPr algn="just"/>
            <a:r>
              <a:rPr lang="en-US" sz="3200" dirty="0"/>
              <a:t> </a:t>
            </a:r>
          </a:p>
        </p:txBody>
      </p:sp>
      <p:sp>
        <p:nvSpPr>
          <p:cNvPr id="12" name="TextBox 11">
            <a:extLst>
              <a:ext uri="{FF2B5EF4-FFF2-40B4-BE49-F238E27FC236}">
                <a16:creationId xmlns:a16="http://schemas.microsoft.com/office/drawing/2014/main" id="{42E97EAE-814F-4992-FE5C-D1E9366A41AA}"/>
              </a:ext>
            </a:extLst>
          </p:cNvPr>
          <p:cNvSpPr txBox="1"/>
          <p:nvPr/>
        </p:nvSpPr>
        <p:spPr>
          <a:xfrm>
            <a:off x="27462618" y="25559005"/>
            <a:ext cx="3559619" cy="1892826"/>
          </a:xfrm>
          <a:prstGeom prst="rect">
            <a:avLst/>
          </a:prstGeom>
          <a:noFill/>
        </p:spPr>
        <p:txBody>
          <a:bodyPr wrap="square" rtlCol="0">
            <a:spAutoFit/>
          </a:bodyPr>
          <a:lstStyle/>
          <a:p>
            <a:pPr algn="ctr"/>
            <a:r>
              <a:rPr lang="en-US" sz="3900" b="1" dirty="0">
                <a:latin typeface="Arial" panose="020B0604020202020204" pitchFamily="34" charset="0"/>
                <a:cs typeface="Arial" panose="020B0604020202020204" pitchFamily="34" charset="0"/>
              </a:rPr>
              <a:t>RESULTS OF NANOWIRE FABRICATION</a:t>
            </a:r>
          </a:p>
        </p:txBody>
      </p:sp>
      <p:sp>
        <p:nvSpPr>
          <p:cNvPr id="2" name="TextBox 1">
            <a:extLst>
              <a:ext uri="{FF2B5EF4-FFF2-40B4-BE49-F238E27FC236}">
                <a16:creationId xmlns:a16="http://schemas.microsoft.com/office/drawing/2014/main" id="{F23BAA4A-B87C-9E60-6D5C-EBAAF04F1931}"/>
              </a:ext>
            </a:extLst>
          </p:cNvPr>
          <p:cNvSpPr txBox="1"/>
          <p:nvPr/>
        </p:nvSpPr>
        <p:spPr>
          <a:xfrm>
            <a:off x="193234" y="10561186"/>
            <a:ext cx="8551643" cy="3539430"/>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Measuring the absorption of 10</a:t>
            </a:r>
            <a:r>
              <a:rPr lang="en-US" sz="3200" baseline="30000" dirty="0">
                <a:latin typeface="Arial" panose="020B0604020202020204" pitchFamily="34" charset="0"/>
                <a:cs typeface="Arial" panose="020B0604020202020204" pitchFamily="34" charset="0"/>
              </a:rPr>
              <a:t>20 </a:t>
            </a:r>
            <a:r>
              <a:rPr lang="en-US" sz="3200" dirty="0"/>
              <a:t>W/cm²</a:t>
            </a:r>
            <a:r>
              <a:rPr lang="en-US" sz="3200" dirty="0">
                <a:latin typeface="Arial" panose="020B0604020202020204" pitchFamily="34" charset="0"/>
                <a:cs typeface="Arial" panose="020B0604020202020204" pitchFamily="34" charset="0"/>
              </a:rPr>
              <a:t> pulse </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Comparing the light absorption of nanowire targets against flat foil targets of the same base material</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Using an Integrating Sphere to measure scattering of incident light.</a:t>
            </a:r>
          </a:p>
        </p:txBody>
      </p:sp>
      <p:pic>
        <p:nvPicPr>
          <p:cNvPr id="14" name="Picture 13" descr="A colorful light beams in a dark room&#10;&#10;AI-generated content may be incorrect.">
            <a:extLst>
              <a:ext uri="{FF2B5EF4-FFF2-40B4-BE49-F238E27FC236}">
                <a16:creationId xmlns:a16="http://schemas.microsoft.com/office/drawing/2014/main" id="{C80FECFA-F57F-EBD0-CB98-111D81E63AA6}"/>
              </a:ext>
            </a:extLst>
          </p:cNvPr>
          <p:cNvPicPr>
            <a:picLocks noChangeAspect="1"/>
          </p:cNvPicPr>
          <p:nvPr/>
        </p:nvPicPr>
        <p:blipFill>
          <a:blip r:embed="rId3">
            <a:extLst>
              <a:ext uri="{28A0092B-C50C-407E-A947-70E740481C1C}">
                <a14:useLocalDpi xmlns:a14="http://schemas.microsoft.com/office/drawing/2010/main" val="0"/>
              </a:ext>
            </a:extLst>
          </a:blip>
          <a:srcRect l="-2" t="35791" r="140" b="36178"/>
          <a:stretch>
            <a:fillRect/>
          </a:stretch>
        </p:blipFill>
        <p:spPr>
          <a:xfrm>
            <a:off x="265841" y="30483326"/>
            <a:ext cx="14560500" cy="2301448"/>
          </a:xfrm>
          <a:prstGeom prst="rect">
            <a:avLst/>
          </a:prstGeom>
        </p:spPr>
      </p:pic>
      <p:sp>
        <p:nvSpPr>
          <p:cNvPr id="18" name="Rectangle 17">
            <a:extLst>
              <a:ext uri="{FF2B5EF4-FFF2-40B4-BE49-F238E27FC236}">
                <a16:creationId xmlns:a16="http://schemas.microsoft.com/office/drawing/2014/main" id="{356E8BBF-4F7D-8512-5917-AD7AF08C4E3B}"/>
              </a:ext>
            </a:extLst>
          </p:cNvPr>
          <p:cNvSpPr/>
          <p:nvPr/>
        </p:nvSpPr>
        <p:spPr>
          <a:xfrm>
            <a:off x="15114365" y="30461264"/>
            <a:ext cx="28510993" cy="2323509"/>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12B77864-4ECA-1E20-94C0-5B2CD457693D}"/>
              </a:ext>
            </a:extLst>
          </p:cNvPr>
          <p:cNvSpPr txBox="1"/>
          <p:nvPr/>
        </p:nvSpPr>
        <p:spPr>
          <a:xfrm>
            <a:off x="26747286" y="30448068"/>
            <a:ext cx="5761216" cy="707886"/>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ACKNOWLEDGEMENT</a:t>
            </a:r>
          </a:p>
        </p:txBody>
      </p:sp>
      <p:pic>
        <p:nvPicPr>
          <p:cNvPr id="27" name="Picture 26" descr="A logo with green rays&#10;&#10;AI-generated content may be incorrect.">
            <a:extLst>
              <a:ext uri="{FF2B5EF4-FFF2-40B4-BE49-F238E27FC236}">
                <a16:creationId xmlns:a16="http://schemas.microsoft.com/office/drawing/2014/main" id="{4C505BC5-1D6F-7922-CE4E-F8169D043FB6}"/>
              </a:ext>
            </a:extLst>
          </p:cNvPr>
          <p:cNvPicPr>
            <a:picLocks noChangeAspect="1"/>
          </p:cNvPicPr>
          <p:nvPr/>
        </p:nvPicPr>
        <p:blipFill>
          <a:blip r:embed="rId4">
            <a:extLst>
              <a:ext uri="{28A0092B-C50C-407E-A947-70E740481C1C}">
                <a14:useLocalDpi xmlns:a14="http://schemas.microsoft.com/office/drawing/2010/main" val="0"/>
              </a:ext>
            </a:extLst>
          </a:blip>
          <a:srcRect l="21969" t="28430" r="22001" b="30679"/>
          <a:stretch>
            <a:fillRect/>
          </a:stretch>
        </p:blipFill>
        <p:spPr>
          <a:xfrm>
            <a:off x="39575503" y="15204"/>
            <a:ext cx="3854079" cy="1875112"/>
          </a:xfrm>
          <a:prstGeom prst="rect">
            <a:avLst/>
          </a:prstGeom>
        </p:spPr>
      </p:pic>
      <p:sp>
        <p:nvSpPr>
          <p:cNvPr id="29" name="TextBox 28">
            <a:extLst>
              <a:ext uri="{FF2B5EF4-FFF2-40B4-BE49-F238E27FC236}">
                <a16:creationId xmlns:a16="http://schemas.microsoft.com/office/drawing/2014/main" id="{7D8B2818-65D6-F90C-5FE7-1439AC7FBB19}"/>
              </a:ext>
            </a:extLst>
          </p:cNvPr>
          <p:cNvSpPr txBox="1"/>
          <p:nvPr/>
        </p:nvSpPr>
        <p:spPr>
          <a:xfrm>
            <a:off x="15114365" y="30988950"/>
            <a:ext cx="28256127" cy="1354217"/>
          </a:xfrm>
          <a:prstGeom prst="rect">
            <a:avLst/>
          </a:prstGeom>
          <a:noFill/>
        </p:spPr>
        <p:txBody>
          <a:bodyPr wrap="square">
            <a:spAutoFit/>
          </a:bodyPr>
          <a:lstStyle/>
          <a:p>
            <a:pPr algn="just">
              <a:spcAft>
                <a:spcPts val="1200"/>
              </a:spcAft>
            </a:pPr>
            <a:r>
              <a:rPr lang="en-US" sz="2400" dirty="0">
                <a:latin typeface="Open Sans" panose="020B0606030504020204" pitchFamily="34" charset="0"/>
                <a:ea typeface="Open Sans" panose="020B0606030504020204" pitchFamily="34" charset="0"/>
                <a:cs typeface="Open Sans" panose="020B0606030504020204" pitchFamily="34" charset="0"/>
              </a:rPr>
              <a:t>U.S. Department of Energy (DOE), Office of Science, Fusion Energy Sciences, Award No. DE-SC0024882: IFE-STAR, using facilities supported by LaserNet US, DOE grant US DE- SC0021246 </a:t>
            </a:r>
          </a:p>
          <a:p>
            <a:pPr algn="just"/>
            <a:r>
              <a:rPr lang="en-US" sz="2400" dirty="0">
                <a:latin typeface="Open Sans" panose="020B0606030504020204" pitchFamily="34" charset="0"/>
                <a:ea typeface="Open Sans" panose="020B0606030504020204" pitchFamily="34" charset="0"/>
                <a:cs typeface="Open Sans" panose="020B0606030504020204" pitchFamily="34" charset="0"/>
              </a:rPr>
              <a:t>J.J. Rocca, M.G. Capeluto, R.C. Hollinger, S. Wang, Y. Wang, G.R. Kumar, A.D. Lad, A. Pukhov, and V.N. Shylyaptsev, Ultra-intense femtosecond laser interactions with aligned nanostructures, OPTICA, 11: 510542, (2024)</a:t>
            </a:r>
          </a:p>
        </p:txBody>
      </p:sp>
      <p:pic>
        <p:nvPicPr>
          <p:cNvPr id="30" name="Picture 29">
            <a:extLst>
              <a:ext uri="{FF2B5EF4-FFF2-40B4-BE49-F238E27FC236}">
                <a16:creationId xmlns:a16="http://schemas.microsoft.com/office/drawing/2014/main" id="{997E0C82-BCC4-4CBC-8E62-9C96F9BD0673}"/>
              </a:ext>
            </a:extLst>
          </p:cNvPr>
          <p:cNvPicPr>
            <a:picLocks noChangeAspect="1"/>
          </p:cNvPicPr>
          <p:nvPr/>
        </p:nvPicPr>
        <p:blipFill>
          <a:blip r:embed="rId5"/>
          <a:stretch>
            <a:fillRect/>
          </a:stretch>
        </p:blipFill>
        <p:spPr>
          <a:xfrm>
            <a:off x="300809" y="256158"/>
            <a:ext cx="3928917" cy="1294758"/>
          </a:xfrm>
          <a:prstGeom prst="rect">
            <a:avLst/>
          </a:prstGeom>
        </p:spPr>
      </p:pic>
      <p:pic>
        <p:nvPicPr>
          <p:cNvPr id="32" name="Picture 31">
            <a:extLst>
              <a:ext uri="{FF2B5EF4-FFF2-40B4-BE49-F238E27FC236}">
                <a16:creationId xmlns:a16="http://schemas.microsoft.com/office/drawing/2014/main" id="{CC88C892-D482-683E-CDE2-F4C3A7F0587D}"/>
              </a:ext>
            </a:extLst>
          </p:cNvPr>
          <p:cNvPicPr>
            <a:picLocks noChangeAspect="1"/>
          </p:cNvPicPr>
          <p:nvPr/>
        </p:nvPicPr>
        <p:blipFill>
          <a:blip r:embed="rId6"/>
          <a:stretch>
            <a:fillRect/>
          </a:stretch>
        </p:blipFill>
        <p:spPr>
          <a:xfrm>
            <a:off x="39331502" y="1798874"/>
            <a:ext cx="4258820" cy="1261072"/>
          </a:xfrm>
          <a:prstGeom prst="rect">
            <a:avLst/>
          </a:prstGeom>
        </p:spPr>
      </p:pic>
      <p:grpSp>
        <p:nvGrpSpPr>
          <p:cNvPr id="4" name="Group 3">
            <a:extLst>
              <a:ext uri="{FF2B5EF4-FFF2-40B4-BE49-F238E27FC236}">
                <a16:creationId xmlns:a16="http://schemas.microsoft.com/office/drawing/2014/main" id="{A23FF407-7A21-BF7B-5974-8275A040D588}"/>
              </a:ext>
            </a:extLst>
          </p:cNvPr>
          <p:cNvGrpSpPr/>
          <p:nvPr/>
        </p:nvGrpSpPr>
        <p:grpSpPr>
          <a:xfrm>
            <a:off x="15045807" y="5342019"/>
            <a:ext cx="7699892" cy="8371846"/>
            <a:chOff x="12487761" y="8329900"/>
            <a:chExt cx="2378209" cy="3472455"/>
          </a:xfrm>
        </p:grpSpPr>
        <p:sp>
          <p:nvSpPr>
            <p:cNvPr id="6" name="TextBox 5">
              <a:extLst>
                <a:ext uri="{FF2B5EF4-FFF2-40B4-BE49-F238E27FC236}">
                  <a16:creationId xmlns:a16="http://schemas.microsoft.com/office/drawing/2014/main" id="{6FACC60B-419B-219B-26F1-842C8C9FF255}"/>
                </a:ext>
              </a:extLst>
            </p:cNvPr>
            <p:cNvSpPr txBox="1"/>
            <p:nvPr/>
          </p:nvSpPr>
          <p:spPr>
            <a:xfrm>
              <a:off x="12493611" y="8416603"/>
              <a:ext cx="643202" cy="344679"/>
            </a:xfrm>
            <a:prstGeom prst="rect">
              <a:avLst/>
            </a:prstGeom>
            <a:noFill/>
            <a:ln>
              <a:solidFill>
                <a:schemeClr val="tx1"/>
              </a:solidFill>
            </a:ln>
          </p:spPr>
          <p:txBody>
            <a:bodyPr wrap="square" rtlCol="0">
              <a:spAutoFit/>
            </a:bodyPr>
            <a:lstStyle/>
            <a:p>
              <a:pPr algn="ctr"/>
              <a:r>
                <a:rPr lang="en-US" sz="2400" b="1" dirty="0">
                  <a:latin typeface="Arial" panose="020B0604020202020204" pitchFamily="34" charset="0"/>
                  <a:cs typeface="Arial" panose="020B0604020202020204" pitchFamily="34" charset="0"/>
                </a:rPr>
                <a:t>Empty AAO Template</a:t>
              </a:r>
            </a:p>
          </p:txBody>
        </p:sp>
        <p:sp>
          <p:nvSpPr>
            <p:cNvPr id="26" name="TextBox 25">
              <a:extLst>
                <a:ext uri="{FF2B5EF4-FFF2-40B4-BE49-F238E27FC236}">
                  <a16:creationId xmlns:a16="http://schemas.microsoft.com/office/drawing/2014/main" id="{660CC406-01B0-8793-5732-5001C2F9F17E}"/>
                </a:ext>
              </a:extLst>
            </p:cNvPr>
            <p:cNvSpPr txBox="1"/>
            <p:nvPr/>
          </p:nvSpPr>
          <p:spPr>
            <a:xfrm>
              <a:off x="12493611" y="9359733"/>
              <a:ext cx="630671" cy="191488"/>
            </a:xfrm>
            <a:prstGeom prst="rect">
              <a:avLst/>
            </a:prstGeom>
            <a:noFill/>
            <a:ln>
              <a:solidFill>
                <a:schemeClr val="tx1"/>
              </a:solidFill>
            </a:ln>
          </p:spPr>
          <p:txBody>
            <a:bodyPr wrap="square" rtlCol="0">
              <a:spAutoFit/>
            </a:bodyPr>
            <a:lstStyle/>
            <a:p>
              <a:pPr algn="ctr"/>
              <a:r>
                <a:rPr lang="en-US" sz="2400" b="1" dirty="0">
                  <a:latin typeface="Arial" panose="020B0604020202020204" pitchFamily="34" charset="0"/>
                  <a:cs typeface="Arial" panose="020B0604020202020204" pitchFamily="34" charset="0"/>
                </a:rPr>
                <a:t>Sputter Gold</a:t>
              </a:r>
            </a:p>
          </p:txBody>
        </p:sp>
        <p:sp>
          <p:nvSpPr>
            <p:cNvPr id="28" name="TextBox 27">
              <a:extLst>
                <a:ext uri="{FF2B5EF4-FFF2-40B4-BE49-F238E27FC236}">
                  <a16:creationId xmlns:a16="http://schemas.microsoft.com/office/drawing/2014/main" id="{9FEBEF2E-4C71-0605-E74D-B933A2477951}"/>
                </a:ext>
              </a:extLst>
            </p:cNvPr>
            <p:cNvSpPr txBox="1"/>
            <p:nvPr/>
          </p:nvSpPr>
          <p:spPr>
            <a:xfrm>
              <a:off x="12493611" y="10307724"/>
              <a:ext cx="642595" cy="344679"/>
            </a:xfrm>
            <a:prstGeom prst="rect">
              <a:avLst/>
            </a:prstGeom>
            <a:noFill/>
            <a:ln>
              <a:solidFill>
                <a:schemeClr val="tx1"/>
              </a:solidFill>
            </a:ln>
          </p:spPr>
          <p:txBody>
            <a:bodyPr wrap="square" rtlCol="0">
              <a:spAutoFit/>
            </a:bodyPr>
            <a:lstStyle/>
            <a:p>
              <a:pPr algn="ctr"/>
              <a:r>
                <a:rPr lang="en-US" sz="2400" b="1" dirty="0">
                  <a:latin typeface="Arial" panose="020B0604020202020204" pitchFamily="34" charset="0"/>
                  <a:cs typeface="Arial" panose="020B0604020202020204" pitchFamily="34" charset="0"/>
                </a:rPr>
                <a:t>Electroplate Nickel</a:t>
              </a:r>
            </a:p>
          </p:txBody>
        </p:sp>
        <p:sp>
          <p:nvSpPr>
            <p:cNvPr id="31" name="TextBox 30">
              <a:extLst>
                <a:ext uri="{FF2B5EF4-FFF2-40B4-BE49-F238E27FC236}">
                  <a16:creationId xmlns:a16="http://schemas.microsoft.com/office/drawing/2014/main" id="{CCC60C73-D661-3037-2F5D-66F6645047AA}"/>
                </a:ext>
              </a:extLst>
            </p:cNvPr>
            <p:cNvSpPr txBox="1"/>
            <p:nvPr/>
          </p:nvSpPr>
          <p:spPr>
            <a:xfrm>
              <a:off x="12487761" y="11151295"/>
              <a:ext cx="629638" cy="651060"/>
            </a:xfrm>
            <a:prstGeom prst="rect">
              <a:avLst/>
            </a:prstGeom>
            <a:noFill/>
            <a:ln>
              <a:solidFill>
                <a:schemeClr val="tx1"/>
              </a:solidFill>
            </a:ln>
          </p:spPr>
          <p:txBody>
            <a:bodyPr wrap="square" rtlCol="0">
              <a:spAutoFit/>
            </a:bodyPr>
            <a:lstStyle/>
            <a:p>
              <a:pPr algn="ctr"/>
              <a:r>
                <a:rPr lang="en-US" sz="2400" b="1" dirty="0">
                  <a:latin typeface="Arial" panose="020B0604020202020204" pitchFamily="34" charset="0"/>
                  <a:cs typeface="Arial" panose="020B0604020202020204" pitchFamily="34" charset="0"/>
                </a:rPr>
                <a:t>Dissolve Template, Critically Dry</a:t>
              </a:r>
            </a:p>
          </p:txBody>
        </p:sp>
        <p:sp>
          <p:nvSpPr>
            <p:cNvPr id="33" name="Rectangle 32">
              <a:extLst>
                <a:ext uri="{FF2B5EF4-FFF2-40B4-BE49-F238E27FC236}">
                  <a16:creationId xmlns:a16="http://schemas.microsoft.com/office/drawing/2014/main" id="{E60CB3E6-B457-B03D-E407-E7EA60351165}"/>
                </a:ext>
              </a:extLst>
            </p:cNvPr>
            <p:cNvSpPr/>
            <p:nvPr/>
          </p:nvSpPr>
          <p:spPr>
            <a:xfrm>
              <a:off x="13165484" y="8329902"/>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49C868C8-9E0D-B56E-D1F8-50EE8BD2B541}"/>
                </a:ext>
              </a:extLst>
            </p:cNvPr>
            <p:cNvSpPr/>
            <p:nvPr/>
          </p:nvSpPr>
          <p:spPr>
            <a:xfrm>
              <a:off x="13457522" y="8329901"/>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3A571FDF-0F75-9BDD-60E5-2DBA63D7A085}"/>
                </a:ext>
              </a:extLst>
            </p:cNvPr>
            <p:cNvSpPr/>
            <p:nvPr/>
          </p:nvSpPr>
          <p:spPr>
            <a:xfrm>
              <a:off x="13749559" y="8329901"/>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F0406745-8758-ADD9-05A6-E834CA19B640}"/>
                </a:ext>
              </a:extLst>
            </p:cNvPr>
            <p:cNvSpPr/>
            <p:nvPr/>
          </p:nvSpPr>
          <p:spPr>
            <a:xfrm>
              <a:off x="14041596" y="8329901"/>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CB6032AA-FDB5-94A5-836B-2233D1157986}"/>
                </a:ext>
              </a:extLst>
            </p:cNvPr>
            <p:cNvSpPr/>
            <p:nvPr/>
          </p:nvSpPr>
          <p:spPr>
            <a:xfrm>
              <a:off x="14333634" y="8329901"/>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4055E81C-C91C-E5CE-EE17-D0C0016C34E3}"/>
                </a:ext>
              </a:extLst>
            </p:cNvPr>
            <p:cNvSpPr/>
            <p:nvPr/>
          </p:nvSpPr>
          <p:spPr>
            <a:xfrm>
              <a:off x="14625671" y="8329900"/>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9" name="Down Arrow 51">
              <a:extLst>
                <a:ext uri="{FF2B5EF4-FFF2-40B4-BE49-F238E27FC236}">
                  <a16:creationId xmlns:a16="http://schemas.microsoft.com/office/drawing/2014/main" id="{EF8621B1-1973-351D-7991-F4BF7B25C5E3}"/>
                </a:ext>
              </a:extLst>
            </p:cNvPr>
            <p:cNvSpPr/>
            <p:nvPr/>
          </p:nvSpPr>
          <p:spPr>
            <a:xfrm>
              <a:off x="13954124" y="8905899"/>
              <a:ext cx="123207" cy="1519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42" name="Down Arrow 54">
              <a:extLst>
                <a:ext uri="{FF2B5EF4-FFF2-40B4-BE49-F238E27FC236}">
                  <a16:creationId xmlns:a16="http://schemas.microsoft.com/office/drawing/2014/main" id="{AEDC9485-23C2-99FF-8931-FCB36A951C0B}"/>
                </a:ext>
              </a:extLst>
            </p:cNvPr>
            <p:cNvSpPr/>
            <p:nvPr/>
          </p:nvSpPr>
          <p:spPr>
            <a:xfrm>
              <a:off x="13966288" y="10903987"/>
              <a:ext cx="123207" cy="1519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43" name="Down Arrow 106">
              <a:extLst>
                <a:ext uri="{FF2B5EF4-FFF2-40B4-BE49-F238E27FC236}">
                  <a16:creationId xmlns:a16="http://schemas.microsoft.com/office/drawing/2014/main" id="{C76F5166-6684-4CFA-AE43-2DDFB9560458}"/>
                </a:ext>
              </a:extLst>
            </p:cNvPr>
            <p:cNvSpPr/>
            <p:nvPr/>
          </p:nvSpPr>
          <p:spPr>
            <a:xfrm>
              <a:off x="13966288" y="9856511"/>
              <a:ext cx="123207" cy="1519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44" name="Rectangle 43">
              <a:extLst>
                <a:ext uri="{FF2B5EF4-FFF2-40B4-BE49-F238E27FC236}">
                  <a16:creationId xmlns:a16="http://schemas.microsoft.com/office/drawing/2014/main" id="{7FAD5A66-1CB1-CA41-2B8E-DB3D9AB8CFC4}"/>
                </a:ext>
              </a:extLst>
            </p:cNvPr>
            <p:cNvSpPr/>
            <p:nvPr/>
          </p:nvSpPr>
          <p:spPr>
            <a:xfrm>
              <a:off x="13164325" y="9256805"/>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5833A996-416E-4286-50FD-8108E6FC5DFC}"/>
                </a:ext>
              </a:extLst>
            </p:cNvPr>
            <p:cNvSpPr/>
            <p:nvPr/>
          </p:nvSpPr>
          <p:spPr>
            <a:xfrm>
              <a:off x="13456363" y="9256805"/>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46" name="Rectangle 45">
              <a:extLst>
                <a:ext uri="{FF2B5EF4-FFF2-40B4-BE49-F238E27FC236}">
                  <a16:creationId xmlns:a16="http://schemas.microsoft.com/office/drawing/2014/main" id="{6EABEC77-1154-C610-47F3-DE63459021C3}"/>
                </a:ext>
              </a:extLst>
            </p:cNvPr>
            <p:cNvSpPr/>
            <p:nvPr/>
          </p:nvSpPr>
          <p:spPr>
            <a:xfrm>
              <a:off x="13748400" y="9256805"/>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47" name="Rectangle 46">
              <a:extLst>
                <a:ext uri="{FF2B5EF4-FFF2-40B4-BE49-F238E27FC236}">
                  <a16:creationId xmlns:a16="http://schemas.microsoft.com/office/drawing/2014/main" id="{2542091C-A964-43CA-9DB7-30730075C304}"/>
                </a:ext>
              </a:extLst>
            </p:cNvPr>
            <p:cNvSpPr/>
            <p:nvPr/>
          </p:nvSpPr>
          <p:spPr>
            <a:xfrm>
              <a:off x="14040437" y="9256805"/>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CBBC5B30-422D-539D-E253-78068C38401A}"/>
                </a:ext>
              </a:extLst>
            </p:cNvPr>
            <p:cNvSpPr/>
            <p:nvPr/>
          </p:nvSpPr>
          <p:spPr>
            <a:xfrm>
              <a:off x="14332475" y="9256805"/>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D051682F-5083-BCF3-E20C-49C8D47FA16D}"/>
                </a:ext>
              </a:extLst>
            </p:cNvPr>
            <p:cNvSpPr/>
            <p:nvPr/>
          </p:nvSpPr>
          <p:spPr>
            <a:xfrm>
              <a:off x="14624512" y="9256804"/>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1" name="Rectangle 50">
              <a:extLst>
                <a:ext uri="{FF2B5EF4-FFF2-40B4-BE49-F238E27FC236}">
                  <a16:creationId xmlns:a16="http://schemas.microsoft.com/office/drawing/2014/main" id="{F5ACE418-0BE7-1740-C5D3-BAAB6FA5E46D}"/>
                </a:ext>
              </a:extLst>
            </p:cNvPr>
            <p:cNvSpPr/>
            <p:nvPr/>
          </p:nvSpPr>
          <p:spPr>
            <a:xfrm>
              <a:off x="13162230" y="9170227"/>
              <a:ext cx="1702841" cy="87783"/>
            </a:xfrm>
            <a:prstGeom prst="rect">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2" name="Rectangle 51">
              <a:extLst>
                <a:ext uri="{FF2B5EF4-FFF2-40B4-BE49-F238E27FC236}">
                  <a16:creationId xmlns:a16="http://schemas.microsoft.com/office/drawing/2014/main" id="{7CD77872-E6D9-7EB4-C5A6-84416A90FB73}"/>
                </a:ext>
              </a:extLst>
            </p:cNvPr>
            <p:cNvSpPr/>
            <p:nvPr/>
          </p:nvSpPr>
          <p:spPr>
            <a:xfrm>
              <a:off x="13160818" y="10288713"/>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3" name="Rectangle 52">
              <a:extLst>
                <a:ext uri="{FF2B5EF4-FFF2-40B4-BE49-F238E27FC236}">
                  <a16:creationId xmlns:a16="http://schemas.microsoft.com/office/drawing/2014/main" id="{1274E9F2-BB1A-7FB0-BB99-7262543EDDB9}"/>
                </a:ext>
              </a:extLst>
            </p:cNvPr>
            <p:cNvSpPr/>
            <p:nvPr/>
          </p:nvSpPr>
          <p:spPr>
            <a:xfrm>
              <a:off x="13452856" y="10288713"/>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4" name="Rectangle 53">
              <a:extLst>
                <a:ext uri="{FF2B5EF4-FFF2-40B4-BE49-F238E27FC236}">
                  <a16:creationId xmlns:a16="http://schemas.microsoft.com/office/drawing/2014/main" id="{F4B70B92-6416-466F-1C39-7BC2A60F5549}"/>
                </a:ext>
              </a:extLst>
            </p:cNvPr>
            <p:cNvSpPr/>
            <p:nvPr/>
          </p:nvSpPr>
          <p:spPr>
            <a:xfrm>
              <a:off x="13744893" y="10288713"/>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9B0A314D-95D5-7C23-F867-36BBBAF7F9D2}"/>
                </a:ext>
              </a:extLst>
            </p:cNvPr>
            <p:cNvSpPr/>
            <p:nvPr/>
          </p:nvSpPr>
          <p:spPr>
            <a:xfrm>
              <a:off x="14036930" y="10288713"/>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7" name="Rectangle 56">
              <a:extLst>
                <a:ext uri="{FF2B5EF4-FFF2-40B4-BE49-F238E27FC236}">
                  <a16:creationId xmlns:a16="http://schemas.microsoft.com/office/drawing/2014/main" id="{249AF0C4-E2E2-C657-E14C-20837819690C}"/>
                </a:ext>
              </a:extLst>
            </p:cNvPr>
            <p:cNvSpPr/>
            <p:nvPr/>
          </p:nvSpPr>
          <p:spPr>
            <a:xfrm>
              <a:off x="14328968" y="10288713"/>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8" name="Rectangle 57">
              <a:extLst>
                <a:ext uri="{FF2B5EF4-FFF2-40B4-BE49-F238E27FC236}">
                  <a16:creationId xmlns:a16="http://schemas.microsoft.com/office/drawing/2014/main" id="{1F87FDE9-9713-6479-9E2E-6F28CEF305DA}"/>
                </a:ext>
              </a:extLst>
            </p:cNvPr>
            <p:cNvSpPr/>
            <p:nvPr/>
          </p:nvSpPr>
          <p:spPr>
            <a:xfrm>
              <a:off x="14621005" y="10288712"/>
              <a:ext cx="240299" cy="476799"/>
            </a:xfrm>
            <a:prstGeom prst="rect">
              <a:avLst/>
            </a:prstGeom>
            <a:solidFill>
              <a:srgbClr val="00B0F0">
                <a:alpha val="50000"/>
              </a:srgbClr>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EFA3F47D-B33E-0B44-0679-FEFC651C9316}"/>
                </a:ext>
              </a:extLst>
            </p:cNvPr>
            <p:cNvSpPr/>
            <p:nvPr/>
          </p:nvSpPr>
          <p:spPr>
            <a:xfrm>
              <a:off x="13160569" y="10220758"/>
              <a:ext cx="1700344" cy="75935"/>
            </a:xfrm>
            <a:prstGeom prst="rect">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811DF9D4-9EE4-20C7-93B4-C9F83C22641F}"/>
                </a:ext>
              </a:extLst>
            </p:cNvPr>
            <p:cNvSpPr/>
            <p:nvPr/>
          </p:nvSpPr>
          <p:spPr>
            <a:xfrm>
              <a:off x="13691692" y="10297404"/>
              <a:ext cx="51120" cy="128995"/>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1" name="Rectangle 60">
              <a:extLst>
                <a:ext uri="{FF2B5EF4-FFF2-40B4-BE49-F238E27FC236}">
                  <a16:creationId xmlns:a16="http://schemas.microsoft.com/office/drawing/2014/main" id="{E5FDEA54-ABD7-BAEB-3321-9354C122C15A}"/>
                </a:ext>
              </a:extLst>
            </p:cNvPr>
            <p:cNvSpPr/>
            <p:nvPr/>
          </p:nvSpPr>
          <p:spPr>
            <a:xfrm>
              <a:off x="13984719" y="10297404"/>
              <a:ext cx="52329" cy="128995"/>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88664615-7D43-E18F-4E64-EF10DDF2CC94}"/>
                </a:ext>
              </a:extLst>
            </p:cNvPr>
            <p:cNvSpPr/>
            <p:nvPr/>
          </p:nvSpPr>
          <p:spPr>
            <a:xfrm>
              <a:off x="14275063" y="10297404"/>
              <a:ext cx="53904" cy="128995"/>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5632C6B7-C690-07B1-A44E-2D2464E835F1}"/>
                </a:ext>
              </a:extLst>
            </p:cNvPr>
            <p:cNvSpPr/>
            <p:nvPr/>
          </p:nvSpPr>
          <p:spPr>
            <a:xfrm>
              <a:off x="13158237" y="10152480"/>
              <a:ext cx="1702422" cy="66600"/>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88" name="Rectangle 87">
              <a:extLst>
                <a:ext uri="{FF2B5EF4-FFF2-40B4-BE49-F238E27FC236}">
                  <a16:creationId xmlns:a16="http://schemas.microsoft.com/office/drawing/2014/main" id="{55DBD512-1690-8713-E064-746B9C64C3B7}"/>
                </a:ext>
              </a:extLst>
            </p:cNvPr>
            <p:cNvSpPr/>
            <p:nvPr/>
          </p:nvSpPr>
          <p:spPr>
            <a:xfrm>
              <a:off x="13399477" y="10295693"/>
              <a:ext cx="53904" cy="128995"/>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89" name="Rectangle 88">
              <a:extLst>
                <a:ext uri="{FF2B5EF4-FFF2-40B4-BE49-F238E27FC236}">
                  <a16:creationId xmlns:a16="http://schemas.microsoft.com/office/drawing/2014/main" id="{9B6400FE-69D3-750E-9778-967A2349DA76}"/>
                </a:ext>
              </a:extLst>
            </p:cNvPr>
            <p:cNvSpPr/>
            <p:nvPr/>
          </p:nvSpPr>
          <p:spPr>
            <a:xfrm>
              <a:off x="14569196" y="10297341"/>
              <a:ext cx="50593" cy="128995"/>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96" name="Rectangle 95">
              <a:extLst>
                <a:ext uri="{FF2B5EF4-FFF2-40B4-BE49-F238E27FC236}">
                  <a16:creationId xmlns:a16="http://schemas.microsoft.com/office/drawing/2014/main" id="{1C8A6083-45DE-7BD7-36D1-49029226CDE7}"/>
                </a:ext>
              </a:extLst>
            </p:cNvPr>
            <p:cNvSpPr/>
            <p:nvPr/>
          </p:nvSpPr>
          <p:spPr>
            <a:xfrm>
              <a:off x="13147309" y="11238669"/>
              <a:ext cx="1707500" cy="68072"/>
            </a:xfrm>
            <a:prstGeom prst="rect">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97" name="Rectangle 96">
              <a:extLst>
                <a:ext uri="{FF2B5EF4-FFF2-40B4-BE49-F238E27FC236}">
                  <a16:creationId xmlns:a16="http://schemas.microsoft.com/office/drawing/2014/main" id="{EF3210BE-82D7-9F6B-E26E-67B58B4FF15D}"/>
                </a:ext>
              </a:extLst>
            </p:cNvPr>
            <p:cNvSpPr/>
            <p:nvPr/>
          </p:nvSpPr>
          <p:spPr>
            <a:xfrm>
              <a:off x="13679957" y="11305702"/>
              <a:ext cx="57615" cy="434294"/>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98" name="Rectangle 97">
              <a:extLst>
                <a:ext uri="{FF2B5EF4-FFF2-40B4-BE49-F238E27FC236}">
                  <a16:creationId xmlns:a16="http://schemas.microsoft.com/office/drawing/2014/main" id="{AEDB51D1-DBAF-FE72-EFC5-D1A66564A17E}"/>
                </a:ext>
              </a:extLst>
            </p:cNvPr>
            <p:cNvSpPr/>
            <p:nvPr/>
          </p:nvSpPr>
          <p:spPr>
            <a:xfrm>
              <a:off x="13970702" y="11305701"/>
              <a:ext cx="57615" cy="434294"/>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99" name="Rectangle 98">
              <a:extLst>
                <a:ext uri="{FF2B5EF4-FFF2-40B4-BE49-F238E27FC236}">
                  <a16:creationId xmlns:a16="http://schemas.microsoft.com/office/drawing/2014/main" id="{A0F89BE9-161E-582F-2E66-E8E52832EB62}"/>
                </a:ext>
              </a:extLst>
            </p:cNvPr>
            <p:cNvSpPr/>
            <p:nvPr/>
          </p:nvSpPr>
          <p:spPr>
            <a:xfrm>
              <a:off x="14264033" y="11305695"/>
              <a:ext cx="57615" cy="434294"/>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00" name="Rectangle 99">
              <a:extLst>
                <a:ext uri="{FF2B5EF4-FFF2-40B4-BE49-F238E27FC236}">
                  <a16:creationId xmlns:a16="http://schemas.microsoft.com/office/drawing/2014/main" id="{ED2798A8-0237-5794-F954-C53B4D966358}"/>
                </a:ext>
              </a:extLst>
            </p:cNvPr>
            <p:cNvSpPr/>
            <p:nvPr/>
          </p:nvSpPr>
          <p:spPr>
            <a:xfrm>
              <a:off x="13146481" y="11170128"/>
              <a:ext cx="1708966" cy="66600"/>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01" name="Rectangle 100">
              <a:extLst>
                <a:ext uri="{FF2B5EF4-FFF2-40B4-BE49-F238E27FC236}">
                  <a16:creationId xmlns:a16="http://schemas.microsoft.com/office/drawing/2014/main" id="{8939DD97-AD5D-2022-1F67-9611F20E9D4E}"/>
                </a:ext>
              </a:extLst>
            </p:cNvPr>
            <p:cNvSpPr/>
            <p:nvPr/>
          </p:nvSpPr>
          <p:spPr>
            <a:xfrm>
              <a:off x="13389744" y="11304957"/>
              <a:ext cx="57615" cy="434294"/>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02" name="Rectangle 101">
              <a:extLst>
                <a:ext uri="{FF2B5EF4-FFF2-40B4-BE49-F238E27FC236}">
                  <a16:creationId xmlns:a16="http://schemas.microsoft.com/office/drawing/2014/main" id="{B40F0E5C-2FA5-C669-B56A-94213CF03851}"/>
                </a:ext>
              </a:extLst>
            </p:cNvPr>
            <p:cNvSpPr/>
            <p:nvPr/>
          </p:nvSpPr>
          <p:spPr>
            <a:xfrm>
              <a:off x="14558237" y="11305181"/>
              <a:ext cx="57615" cy="434294"/>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grpSp>
      <p:sp>
        <p:nvSpPr>
          <p:cNvPr id="104" name="TextBox 103">
            <a:extLst>
              <a:ext uri="{FF2B5EF4-FFF2-40B4-BE49-F238E27FC236}">
                <a16:creationId xmlns:a16="http://schemas.microsoft.com/office/drawing/2014/main" id="{34E7A7DE-7EE0-B6AD-8A20-738487E77683}"/>
              </a:ext>
            </a:extLst>
          </p:cNvPr>
          <p:cNvSpPr txBox="1"/>
          <p:nvPr/>
        </p:nvSpPr>
        <p:spPr>
          <a:xfrm>
            <a:off x="32100276" y="4068804"/>
            <a:ext cx="8698430" cy="707886"/>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	POLYETHYLENE NANOWIRES</a:t>
            </a:r>
          </a:p>
        </p:txBody>
      </p:sp>
      <p:grpSp>
        <p:nvGrpSpPr>
          <p:cNvPr id="105" name="Group 104">
            <a:extLst>
              <a:ext uri="{FF2B5EF4-FFF2-40B4-BE49-F238E27FC236}">
                <a16:creationId xmlns:a16="http://schemas.microsoft.com/office/drawing/2014/main" id="{BF7DB10F-DD38-3389-6427-944FF534F885}"/>
              </a:ext>
            </a:extLst>
          </p:cNvPr>
          <p:cNvGrpSpPr/>
          <p:nvPr/>
        </p:nvGrpSpPr>
        <p:grpSpPr>
          <a:xfrm>
            <a:off x="29627393" y="5283961"/>
            <a:ext cx="7940389" cy="13555797"/>
            <a:chOff x="12470403" y="8286889"/>
            <a:chExt cx="2402543" cy="5633734"/>
          </a:xfrm>
        </p:grpSpPr>
        <p:sp>
          <p:nvSpPr>
            <p:cNvPr id="106" name="TextBox 105">
              <a:extLst>
                <a:ext uri="{FF2B5EF4-FFF2-40B4-BE49-F238E27FC236}">
                  <a16:creationId xmlns:a16="http://schemas.microsoft.com/office/drawing/2014/main" id="{D768984D-5134-ABFC-C987-6A02ED73663A}"/>
                </a:ext>
              </a:extLst>
            </p:cNvPr>
            <p:cNvSpPr txBox="1"/>
            <p:nvPr/>
          </p:nvSpPr>
          <p:spPr>
            <a:xfrm>
              <a:off x="12470404" y="8286889"/>
              <a:ext cx="666409" cy="652344"/>
            </a:xfrm>
            <a:prstGeom prst="rect">
              <a:avLst/>
            </a:prstGeom>
            <a:noFill/>
            <a:ln>
              <a:noFill/>
            </a:ln>
          </p:spPr>
          <p:txBody>
            <a:bodyPr wrap="square" rtlCol="0">
              <a:spAutoFit/>
            </a:bodyPr>
            <a:lstStyle/>
            <a:p>
              <a:pPr algn="ctr"/>
              <a:r>
                <a:rPr lang="en-US" sz="2400" b="1" dirty="0">
                  <a:latin typeface="Arial" panose="020B0604020202020204" pitchFamily="34" charset="0"/>
                  <a:cs typeface="Arial" panose="020B0604020202020204" pitchFamily="34" charset="0"/>
                </a:rPr>
                <a:t>Empty AAO Template placed on Teflon insert</a:t>
              </a:r>
            </a:p>
          </p:txBody>
        </p:sp>
        <p:sp>
          <p:nvSpPr>
            <p:cNvPr id="108" name="TextBox 107">
              <a:extLst>
                <a:ext uri="{FF2B5EF4-FFF2-40B4-BE49-F238E27FC236}">
                  <a16:creationId xmlns:a16="http://schemas.microsoft.com/office/drawing/2014/main" id="{29F6D80F-4460-41FD-76C7-472A550EE8DF}"/>
                </a:ext>
              </a:extLst>
            </p:cNvPr>
            <p:cNvSpPr txBox="1"/>
            <p:nvPr/>
          </p:nvSpPr>
          <p:spPr>
            <a:xfrm>
              <a:off x="12470403" y="9306922"/>
              <a:ext cx="668477" cy="345359"/>
            </a:xfrm>
            <a:prstGeom prst="rect">
              <a:avLst/>
            </a:prstGeom>
            <a:noFill/>
            <a:ln>
              <a:noFill/>
            </a:ln>
          </p:spPr>
          <p:txBody>
            <a:bodyPr wrap="square" rtlCol="0">
              <a:spAutoFit/>
            </a:bodyPr>
            <a:lstStyle/>
            <a:p>
              <a:pPr algn="ctr"/>
              <a:r>
                <a:rPr lang="en-US" sz="2400" b="1" dirty="0">
                  <a:latin typeface="Arial" panose="020B0604020202020204" pitchFamily="34" charset="0"/>
                  <a:cs typeface="Arial" panose="020B0604020202020204" pitchFamily="34" charset="0"/>
                </a:rPr>
                <a:t>Polyethylene Film</a:t>
              </a:r>
            </a:p>
          </p:txBody>
        </p:sp>
        <p:sp>
          <p:nvSpPr>
            <p:cNvPr id="109" name="TextBox 108">
              <a:extLst>
                <a:ext uri="{FF2B5EF4-FFF2-40B4-BE49-F238E27FC236}">
                  <a16:creationId xmlns:a16="http://schemas.microsoft.com/office/drawing/2014/main" id="{CD422522-0DDC-7B40-9AB7-70B2D05B4238}"/>
                </a:ext>
              </a:extLst>
            </p:cNvPr>
            <p:cNvSpPr txBox="1"/>
            <p:nvPr/>
          </p:nvSpPr>
          <p:spPr>
            <a:xfrm>
              <a:off x="12470404" y="10299257"/>
              <a:ext cx="665802" cy="345359"/>
            </a:xfrm>
            <a:prstGeom prst="rect">
              <a:avLst/>
            </a:prstGeom>
            <a:noFill/>
            <a:ln>
              <a:noFill/>
            </a:ln>
          </p:spPr>
          <p:txBody>
            <a:bodyPr wrap="square" rtlCol="0">
              <a:spAutoFit/>
            </a:bodyPr>
            <a:lstStyle/>
            <a:p>
              <a:pPr algn="ctr"/>
              <a:r>
                <a:rPr lang="en-US" sz="2400" b="1" dirty="0">
                  <a:latin typeface="Arial" panose="020B0604020202020204" pitchFamily="34" charset="0"/>
                  <a:cs typeface="Arial" panose="020B0604020202020204" pitchFamily="34" charset="0"/>
                </a:rPr>
                <a:t>Plastic stub to apply force</a:t>
              </a:r>
            </a:p>
          </p:txBody>
        </p:sp>
        <p:sp>
          <p:nvSpPr>
            <p:cNvPr id="110" name="TextBox 109">
              <a:extLst>
                <a:ext uri="{FF2B5EF4-FFF2-40B4-BE49-F238E27FC236}">
                  <a16:creationId xmlns:a16="http://schemas.microsoft.com/office/drawing/2014/main" id="{8649F1CE-5E2E-5448-B6CD-06F6A875E152}"/>
                </a:ext>
              </a:extLst>
            </p:cNvPr>
            <p:cNvSpPr txBox="1"/>
            <p:nvPr/>
          </p:nvSpPr>
          <p:spPr>
            <a:xfrm>
              <a:off x="12471996" y="13268279"/>
              <a:ext cx="635327" cy="652344"/>
            </a:xfrm>
            <a:prstGeom prst="rect">
              <a:avLst/>
            </a:prstGeom>
            <a:noFill/>
            <a:ln>
              <a:noFill/>
            </a:ln>
          </p:spPr>
          <p:txBody>
            <a:bodyPr wrap="square" rtlCol="0">
              <a:spAutoFit/>
            </a:bodyPr>
            <a:lstStyle/>
            <a:p>
              <a:pPr algn="ctr"/>
              <a:r>
                <a:rPr lang="en-US" sz="2400" b="1" dirty="0">
                  <a:latin typeface="Arial" panose="020B0604020202020204" pitchFamily="34" charset="0"/>
                  <a:cs typeface="Arial" panose="020B0604020202020204" pitchFamily="34" charset="0"/>
                </a:rPr>
                <a:t>Remove from insert; dissolve template.</a:t>
              </a:r>
            </a:p>
          </p:txBody>
        </p:sp>
        <p:sp>
          <p:nvSpPr>
            <p:cNvPr id="111" name="Rectangle 110">
              <a:extLst>
                <a:ext uri="{FF2B5EF4-FFF2-40B4-BE49-F238E27FC236}">
                  <a16:creationId xmlns:a16="http://schemas.microsoft.com/office/drawing/2014/main" id="{E1A76E44-9C6E-1563-1DE4-0B800A8571D5}"/>
                </a:ext>
              </a:extLst>
            </p:cNvPr>
            <p:cNvSpPr/>
            <p:nvPr/>
          </p:nvSpPr>
          <p:spPr>
            <a:xfrm>
              <a:off x="13167999" y="8329902"/>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12" name="Rectangle 111">
              <a:extLst>
                <a:ext uri="{FF2B5EF4-FFF2-40B4-BE49-F238E27FC236}">
                  <a16:creationId xmlns:a16="http://schemas.microsoft.com/office/drawing/2014/main" id="{DCEC3B22-0BAB-E5C4-4FE4-B8B3363184AE}"/>
                </a:ext>
              </a:extLst>
            </p:cNvPr>
            <p:cNvSpPr/>
            <p:nvPr/>
          </p:nvSpPr>
          <p:spPr>
            <a:xfrm>
              <a:off x="13457522" y="8329901"/>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13" name="Rectangle 112">
              <a:extLst>
                <a:ext uri="{FF2B5EF4-FFF2-40B4-BE49-F238E27FC236}">
                  <a16:creationId xmlns:a16="http://schemas.microsoft.com/office/drawing/2014/main" id="{FAC16AE2-A88D-3AD7-1A08-7ACFC470B42D}"/>
                </a:ext>
              </a:extLst>
            </p:cNvPr>
            <p:cNvSpPr/>
            <p:nvPr/>
          </p:nvSpPr>
          <p:spPr>
            <a:xfrm>
              <a:off x="13749559" y="8329901"/>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14" name="Rectangle 113">
              <a:extLst>
                <a:ext uri="{FF2B5EF4-FFF2-40B4-BE49-F238E27FC236}">
                  <a16:creationId xmlns:a16="http://schemas.microsoft.com/office/drawing/2014/main" id="{C204DACA-556C-9D5E-9399-D98F4878B73E}"/>
                </a:ext>
              </a:extLst>
            </p:cNvPr>
            <p:cNvSpPr/>
            <p:nvPr/>
          </p:nvSpPr>
          <p:spPr>
            <a:xfrm>
              <a:off x="14041596" y="8329901"/>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15" name="Rectangle 114">
              <a:extLst>
                <a:ext uri="{FF2B5EF4-FFF2-40B4-BE49-F238E27FC236}">
                  <a16:creationId xmlns:a16="http://schemas.microsoft.com/office/drawing/2014/main" id="{B64A8498-ACD4-F47B-A10D-0FC044AC2F1A}"/>
                </a:ext>
              </a:extLst>
            </p:cNvPr>
            <p:cNvSpPr/>
            <p:nvPr/>
          </p:nvSpPr>
          <p:spPr>
            <a:xfrm>
              <a:off x="14333634" y="8329901"/>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16" name="Rectangle 115">
              <a:extLst>
                <a:ext uri="{FF2B5EF4-FFF2-40B4-BE49-F238E27FC236}">
                  <a16:creationId xmlns:a16="http://schemas.microsoft.com/office/drawing/2014/main" id="{6A22B70B-9F58-F29B-116E-E3FDE52DAC1A}"/>
                </a:ext>
              </a:extLst>
            </p:cNvPr>
            <p:cNvSpPr/>
            <p:nvPr/>
          </p:nvSpPr>
          <p:spPr>
            <a:xfrm>
              <a:off x="14628781" y="8329900"/>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17" name="Down Arrow 51">
              <a:extLst>
                <a:ext uri="{FF2B5EF4-FFF2-40B4-BE49-F238E27FC236}">
                  <a16:creationId xmlns:a16="http://schemas.microsoft.com/office/drawing/2014/main" id="{974146F2-C5C6-2B57-378E-BCB734CCD91E}"/>
                </a:ext>
              </a:extLst>
            </p:cNvPr>
            <p:cNvSpPr/>
            <p:nvPr/>
          </p:nvSpPr>
          <p:spPr>
            <a:xfrm>
              <a:off x="13954124" y="8947212"/>
              <a:ext cx="123207" cy="1519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18" name="Down Arrow 52">
              <a:extLst>
                <a:ext uri="{FF2B5EF4-FFF2-40B4-BE49-F238E27FC236}">
                  <a16:creationId xmlns:a16="http://schemas.microsoft.com/office/drawing/2014/main" id="{7CB69473-3F1B-04E7-F998-FCD78C3176E3}"/>
                </a:ext>
              </a:extLst>
            </p:cNvPr>
            <p:cNvSpPr/>
            <p:nvPr/>
          </p:nvSpPr>
          <p:spPr>
            <a:xfrm>
              <a:off x="13949421" y="10892542"/>
              <a:ext cx="123207" cy="1519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19" name="Down Arrow 53">
              <a:extLst>
                <a:ext uri="{FF2B5EF4-FFF2-40B4-BE49-F238E27FC236}">
                  <a16:creationId xmlns:a16="http://schemas.microsoft.com/office/drawing/2014/main" id="{48163738-EC3C-02B7-F72D-DDFDC51ED8E1}"/>
                </a:ext>
              </a:extLst>
            </p:cNvPr>
            <p:cNvSpPr/>
            <p:nvPr/>
          </p:nvSpPr>
          <p:spPr>
            <a:xfrm>
              <a:off x="13247509" y="11977322"/>
              <a:ext cx="64034" cy="148616"/>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0" name="Down Arrow 54">
              <a:extLst>
                <a:ext uri="{FF2B5EF4-FFF2-40B4-BE49-F238E27FC236}">
                  <a16:creationId xmlns:a16="http://schemas.microsoft.com/office/drawing/2014/main" id="{2FE0D40E-05DB-6830-428C-332E55584E49}"/>
                </a:ext>
              </a:extLst>
            </p:cNvPr>
            <p:cNvSpPr/>
            <p:nvPr/>
          </p:nvSpPr>
          <p:spPr>
            <a:xfrm>
              <a:off x="13966288" y="12964782"/>
              <a:ext cx="123207" cy="1519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1" name="Down Arrow 106">
              <a:extLst>
                <a:ext uri="{FF2B5EF4-FFF2-40B4-BE49-F238E27FC236}">
                  <a16:creationId xmlns:a16="http://schemas.microsoft.com/office/drawing/2014/main" id="{FDCE159E-B439-1F7E-0A47-058905F18CE2}"/>
                </a:ext>
              </a:extLst>
            </p:cNvPr>
            <p:cNvSpPr/>
            <p:nvPr/>
          </p:nvSpPr>
          <p:spPr>
            <a:xfrm>
              <a:off x="13951978" y="9856511"/>
              <a:ext cx="123207" cy="1519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2" name="Rectangle 121">
              <a:extLst>
                <a:ext uri="{FF2B5EF4-FFF2-40B4-BE49-F238E27FC236}">
                  <a16:creationId xmlns:a16="http://schemas.microsoft.com/office/drawing/2014/main" id="{41C8EB9A-CAD8-B598-0007-34B264AFED16}"/>
                </a:ext>
              </a:extLst>
            </p:cNvPr>
            <p:cNvSpPr/>
            <p:nvPr/>
          </p:nvSpPr>
          <p:spPr>
            <a:xfrm>
              <a:off x="13169085" y="9256805"/>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3" name="Rectangle 122">
              <a:extLst>
                <a:ext uri="{FF2B5EF4-FFF2-40B4-BE49-F238E27FC236}">
                  <a16:creationId xmlns:a16="http://schemas.microsoft.com/office/drawing/2014/main" id="{195D0385-551E-8A88-F472-2EC4BB387B8F}"/>
                </a:ext>
              </a:extLst>
            </p:cNvPr>
            <p:cNvSpPr/>
            <p:nvPr/>
          </p:nvSpPr>
          <p:spPr>
            <a:xfrm>
              <a:off x="13456363" y="9256805"/>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4" name="Rectangle 123">
              <a:extLst>
                <a:ext uri="{FF2B5EF4-FFF2-40B4-BE49-F238E27FC236}">
                  <a16:creationId xmlns:a16="http://schemas.microsoft.com/office/drawing/2014/main" id="{B293D79C-C2EF-A842-4A5D-441E758E33B9}"/>
                </a:ext>
              </a:extLst>
            </p:cNvPr>
            <p:cNvSpPr/>
            <p:nvPr/>
          </p:nvSpPr>
          <p:spPr>
            <a:xfrm>
              <a:off x="13748400" y="9256805"/>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5" name="Rectangle 124">
              <a:extLst>
                <a:ext uri="{FF2B5EF4-FFF2-40B4-BE49-F238E27FC236}">
                  <a16:creationId xmlns:a16="http://schemas.microsoft.com/office/drawing/2014/main" id="{C1D76B53-D7BF-FE77-620C-2B9AC4DDF272}"/>
                </a:ext>
              </a:extLst>
            </p:cNvPr>
            <p:cNvSpPr/>
            <p:nvPr/>
          </p:nvSpPr>
          <p:spPr>
            <a:xfrm>
              <a:off x="14040437" y="9256805"/>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6" name="Rectangle 125">
              <a:extLst>
                <a:ext uri="{FF2B5EF4-FFF2-40B4-BE49-F238E27FC236}">
                  <a16:creationId xmlns:a16="http://schemas.microsoft.com/office/drawing/2014/main" id="{7C227E9D-DBFF-E774-53AD-DE259CC5FD2A}"/>
                </a:ext>
              </a:extLst>
            </p:cNvPr>
            <p:cNvSpPr/>
            <p:nvPr/>
          </p:nvSpPr>
          <p:spPr>
            <a:xfrm>
              <a:off x="14332475" y="9256805"/>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7" name="Rectangle 126">
              <a:extLst>
                <a:ext uri="{FF2B5EF4-FFF2-40B4-BE49-F238E27FC236}">
                  <a16:creationId xmlns:a16="http://schemas.microsoft.com/office/drawing/2014/main" id="{5034D8AD-BA7E-9756-2FD6-C34F08199353}"/>
                </a:ext>
              </a:extLst>
            </p:cNvPr>
            <p:cNvSpPr/>
            <p:nvPr/>
          </p:nvSpPr>
          <p:spPr>
            <a:xfrm>
              <a:off x="14624512" y="9256804"/>
              <a:ext cx="246526"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9" name="Rectangle 128">
              <a:extLst>
                <a:ext uri="{FF2B5EF4-FFF2-40B4-BE49-F238E27FC236}">
                  <a16:creationId xmlns:a16="http://schemas.microsoft.com/office/drawing/2014/main" id="{78713B0B-649E-77AA-AEDF-3AED09578CE5}"/>
                </a:ext>
              </a:extLst>
            </p:cNvPr>
            <p:cNvSpPr/>
            <p:nvPr/>
          </p:nvSpPr>
          <p:spPr>
            <a:xfrm>
              <a:off x="13168610" y="9170227"/>
              <a:ext cx="1704336" cy="87783"/>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30" name="Rectangle 129">
              <a:extLst>
                <a:ext uri="{FF2B5EF4-FFF2-40B4-BE49-F238E27FC236}">
                  <a16:creationId xmlns:a16="http://schemas.microsoft.com/office/drawing/2014/main" id="{E273842E-1329-1ABD-92EB-0F9CE72B9D27}"/>
                </a:ext>
              </a:extLst>
            </p:cNvPr>
            <p:cNvSpPr/>
            <p:nvPr/>
          </p:nvSpPr>
          <p:spPr>
            <a:xfrm>
              <a:off x="13162726" y="10288713"/>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31" name="Rectangle 130">
              <a:extLst>
                <a:ext uri="{FF2B5EF4-FFF2-40B4-BE49-F238E27FC236}">
                  <a16:creationId xmlns:a16="http://schemas.microsoft.com/office/drawing/2014/main" id="{7C1C3B5F-89A4-431A-F6D2-317347BF368C}"/>
                </a:ext>
              </a:extLst>
            </p:cNvPr>
            <p:cNvSpPr/>
            <p:nvPr/>
          </p:nvSpPr>
          <p:spPr>
            <a:xfrm>
              <a:off x="13452856" y="10288713"/>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32" name="Rectangle 131">
              <a:extLst>
                <a:ext uri="{FF2B5EF4-FFF2-40B4-BE49-F238E27FC236}">
                  <a16:creationId xmlns:a16="http://schemas.microsoft.com/office/drawing/2014/main" id="{06E02D30-F4EC-3C00-DA5E-562D75E98DA9}"/>
                </a:ext>
              </a:extLst>
            </p:cNvPr>
            <p:cNvSpPr/>
            <p:nvPr/>
          </p:nvSpPr>
          <p:spPr>
            <a:xfrm>
              <a:off x="13744893" y="10288713"/>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33" name="Rectangle 132">
              <a:extLst>
                <a:ext uri="{FF2B5EF4-FFF2-40B4-BE49-F238E27FC236}">
                  <a16:creationId xmlns:a16="http://schemas.microsoft.com/office/drawing/2014/main" id="{DEB4E706-30F0-0710-51F9-AB3C38E7DB65}"/>
                </a:ext>
              </a:extLst>
            </p:cNvPr>
            <p:cNvSpPr/>
            <p:nvPr/>
          </p:nvSpPr>
          <p:spPr>
            <a:xfrm>
              <a:off x="14036930" y="10288713"/>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34" name="Rectangle 133">
              <a:extLst>
                <a:ext uri="{FF2B5EF4-FFF2-40B4-BE49-F238E27FC236}">
                  <a16:creationId xmlns:a16="http://schemas.microsoft.com/office/drawing/2014/main" id="{FE34E073-4BB4-46D0-177C-5E1D3D3ADFD3}"/>
                </a:ext>
              </a:extLst>
            </p:cNvPr>
            <p:cNvSpPr/>
            <p:nvPr/>
          </p:nvSpPr>
          <p:spPr>
            <a:xfrm>
              <a:off x="14328968" y="10288713"/>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35" name="Rectangle 134">
              <a:extLst>
                <a:ext uri="{FF2B5EF4-FFF2-40B4-BE49-F238E27FC236}">
                  <a16:creationId xmlns:a16="http://schemas.microsoft.com/office/drawing/2014/main" id="{C46B06A5-0055-2EEF-5EB3-ED3D620D6D67}"/>
                </a:ext>
              </a:extLst>
            </p:cNvPr>
            <p:cNvSpPr/>
            <p:nvPr/>
          </p:nvSpPr>
          <p:spPr>
            <a:xfrm>
              <a:off x="14621005" y="10288712"/>
              <a:ext cx="242213"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36" name="Rectangle 135">
              <a:extLst>
                <a:ext uri="{FF2B5EF4-FFF2-40B4-BE49-F238E27FC236}">
                  <a16:creationId xmlns:a16="http://schemas.microsoft.com/office/drawing/2014/main" id="{9B33051E-EDBB-90BB-89E6-D7571D6E1375}"/>
                </a:ext>
              </a:extLst>
            </p:cNvPr>
            <p:cNvSpPr/>
            <p:nvPr/>
          </p:nvSpPr>
          <p:spPr>
            <a:xfrm>
              <a:off x="13160569" y="10222230"/>
              <a:ext cx="1704040" cy="666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D3CC5DDC-F45F-DB7D-D0A7-E435A547191E}"/>
                </a:ext>
              </a:extLst>
            </p:cNvPr>
            <p:cNvSpPr/>
            <p:nvPr/>
          </p:nvSpPr>
          <p:spPr>
            <a:xfrm>
              <a:off x="13160185" y="10154001"/>
              <a:ext cx="1702422" cy="66600"/>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41" name="Rectangle 140">
              <a:extLst>
                <a:ext uri="{FF2B5EF4-FFF2-40B4-BE49-F238E27FC236}">
                  <a16:creationId xmlns:a16="http://schemas.microsoft.com/office/drawing/2014/main" id="{091F3257-D282-2E10-C098-0A219F9C5DF1}"/>
                </a:ext>
              </a:extLst>
            </p:cNvPr>
            <p:cNvSpPr/>
            <p:nvPr/>
          </p:nvSpPr>
          <p:spPr>
            <a:xfrm>
              <a:off x="13154941" y="11347413"/>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42" name="Rectangle 141">
              <a:extLst>
                <a:ext uri="{FF2B5EF4-FFF2-40B4-BE49-F238E27FC236}">
                  <a16:creationId xmlns:a16="http://schemas.microsoft.com/office/drawing/2014/main" id="{1E720020-36BD-D575-E389-F7A91657D8D9}"/>
                </a:ext>
              </a:extLst>
            </p:cNvPr>
            <p:cNvSpPr/>
            <p:nvPr/>
          </p:nvSpPr>
          <p:spPr>
            <a:xfrm>
              <a:off x="13446979" y="11347413"/>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5360A67A-A9AD-034D-D489-7C16D11A7F6E}"/>
                </a:ext>
              </a:extLst>
            </p:cNvPr>
            <p:cNvSpPr/>
            <p:nvPr/>
          </p:nvSpPr>
          <p:spPr>
            <a:xfrm>
              <a:off x="13739016" y="11347413"/>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44" name="Rectangle 143">
              <a:extLst>
                <a:ext uri="{FF2B5EF4-FFF2-40B4-BE49-F238E27FC236}">
                  <a16:creationId xmlns:a16="http://schemas.microsoft.com/office/drawing/2014/main" id="{30CE0599-08D1-EA69-A2F0-FA0A3A165D50}"/>
                </a:ext>
              </a:extLst>
            </p:cNvPr>
            <p:cNvSpPr/>
            <p:nvPr/>
          </p:nvSpPr>
          <p:spPr>
            <a:xfrm>
              <a:off x="14031053" y="11347413"/>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45" name="Rectangle 144">
              <a:extLst>
                <a:ext uri="{FF2B5EF4-FFF2-40B4-BE49-F238E27FC236}">
                  <a16:creationId xmlns:a16="http://schemas.microsoft.com/office/drawing/2014/main" id="{E40B776E-8B29-BA22-E5D1-E9E0E7519B9F}"/>
                </a:ext>
              </a:extLst>
            </p:cNvPr>
            <p:cNvSpPr/>
            <p:nvPr/>
          </p:nvSpPr>
          <p:spPr>
            <a:xfrm>
              <a:off x="14323091" y="11347413"/>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46" name="Rectangle 145">
              <a:extLst>
                <a:ext uri="{FF2B5EF4-FFF2-40B4-BE49-F238E27FC236}">
                  <a16:creationId xmlns:a16="http://schemas.microsoft.com/office/drawing/2014/main" id="{046B42CE-E466-31F2-81D8-AA6D8CC8ECAA}"/>
                </a:ext>
              </a:extLst>
            </p:cNvPr>
            <p:cNvSpPr/>
            <p:nvPr/>
          </p:nvSpPr>
          <p:spPr>
            <a:xfrm>
              <a:off x="14615128" y="11347412"/>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3A048B21-A85E-E405-403B-282404F754B4}"/>
                </a:ext>
              </a:extLst>
            </p:cNvPr>
            <p:cNvSpPr/>
            <p:nvPr/>
          </p:nvSpPr>
          <p:spPr>
            <a:xfrm>
              <a:off x="13155833" y="11260835"/>
              <a:ext cx="1702421" cy="94558"/>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48" name="Rectangle 147">
              <a:extLst>
                <a:ext uri="{FF2B5EF4-FFF2-40B4-BE49-F238E27FC236}">
                  <a16:creationId xmlns:a16="http://schemas.microsoft.com/office/drawing/2014/main" id="{23F09DAB-6E46-96B9-DFFF-666489E9143D}"/>
                </a:ext>
              </a:extLst>
            </p:cNvPr>
            <p:cNvSpPr/>
            <p:nvPr/>
          </p:nvSpPr>
          <p:spPr>
            <a:xfrm>
              <a:off x="13686067" y="11354895"/>
              <a:ext cx="53904" cy="128995"/>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7127D76C-135E-43BE-4E89-A43790E719C4}"/>
                </a:ext>
              </a:extLst>
            </p:cNvPr>
            <p:cNvSpPr/>
            <p:nvPr/>
          </p:nvSpPr>
          <p:spPr>
            <a:xfrm>
              <a:off x="13978224" y="11354578"/>
              <a:ext cx="53904" cy="128995"/>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50" name="Rectangle 149">
              <a:extLst>
                <a:ext uri="{FF2B5EF4-FFF2-40B4-BE49-F238E27FC236}">
                  <a16:creationId xmlns:a16="http://schemas.microsoft.com/office/drawing/2014/main" id="{35C52A27-BCFA-5804-8766-0646ADD5BDB8}"/>
                </a:ext>
              </a:extLst>
            </p:cNvPr>
            <p:cNvSpPr/>
            <p:nvPr/>
          </p:nvSpPr>
          <p:spPr>
            <a:xfrm>
              <a:off x="14269480" y="11354567"/>
              <a:ext cx="53904" cy="128995"/>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51" name="Rectangle 150">
              <a:extLst>
                <a:ext uri="{FF2B5EF4-FFF2-40B4-BE49-F238E27FC236}">
                  <a16:creationId xmlns:a16="http://schemas.microsoft.com/office/drawing/2014/main" id="{C86428FE-2049-DAF5-6A6E-77D92252B2AD}"/>
                </a:ext>
              </a:extLst>
            </p:cNvPr>
            <p:cNvSpPr/>
            <p:nvPr/>
          </p:nvSpPr>
          <p:spPr>
            <a:xfrm>
              <a:off x="13154963" y="11203333"/>
              <a:ext cx="1702379" cy="66600"/>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53" name="Rectangle 152">
              <a:extLst>
                <a:ext uri="{FF2B5EF4-FFF2-40B4-BE49-F238E27FC236}">
                  <a16:creationId xmlns:a16="http://schemas.microsoft.com/office/drawing/2014/main" id="{7252870B-BE3A-7F99-7FD5-0D4C343F3F8D}"/>
                </a:ext>
              </a:extLst>
            </p:cNvPr>
            <p:cNvSpPr/>
            <p:nvPr/>
          </p:nvSpPr>
          <p:spPr>
            <a:xfrm>
              <a:off x="13153873" y="12335886"/>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54" name="Rectangle 153">
              <a:extLst>
                <a:ext uri="{FF2B5EF4-FFF2-40B4-BE49-F238E27FC236}">
                  <a16:creationId xmlns:a16="http://schemas.microsoft.com/office/drawing/2014/main" id="{8BB9737C-B1A6-DBDB-876F-412C9E14014E}"/>
                </a:ext>
              </a:extLst>
            </p:cNvPr>
            <p:cNvSpPr/>
            <p:nvPr/>
          </p:nvSpPr>
          <p:spPr>
            <a:xfrm>
              <a:off x="13446979" y="12335886"/>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55" name="Rectangle 154">
              <a:extLst>
                <a:ext uri="{FF2B5EF4-FFF2-40B4-BE49-F238E27FC236}">
                  <a16:creationId xmlns:a16="http://schemas.microsoft.com/office/drawing/2014/main" id="{4E9A0CEA-B222-68E0-10B9-9BFE014BF2B9}"/>
                </a:ext>
              </a:extLst>
            </p:cNvPr>
            <p:cNvSpPr/>
            <p:nvPr/>
          </p:nvSpPr>
          <p:spPr>
            <a:xfrm>
              <a:off x="13739016" y="12335886"/>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56" name="Rectangle 155">
              <a:extLst>
                <a:ext uri="{FF2B5EF4-FFF2-40B4-BE49-F238E27FC236}">
                  <a16:creationId xmlns:a16="http://schemas.microsoft.com/office/drawing/2014/main" id="{00683B93-3253-D78B-67D0-396D4E820AF0}"/>
                </a:ext>
              </a:extLst>
            </p:cNvPr>
            <p:cNvSpPr/>
            <p:nvPr/>
          </p:nvSpPr>
          <p:spPr>
            <a:xfrm>
              <a:off x="14031053" y="12335886"/>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57" name="Rectangle 156">
              <a:extLst>
                <a:ext uri="{FF2B5EF4-FFF2-40B4-BE49-F238E27FC236}">
                  <a16:creationId xmlns:a16="http://schemas.microsoft.com/office/drawing/2014/main" id="{4D5659C4-F320-8BB2-5171-10D897BCF29A}"/>
                </a:ext>
              </a:extLst>
            </p:cNvPr>
            <p:cNvSpPr/>
            <p:nvPr/>
          </p:nvSpPr>
          <p:spPr>
            <a:xfrm>
              <a:off x="14323091" y="12335886"/>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58" name="Rectangle 157">
              <a:extLst>
                <a:ext uri="{FF2B5EF4-FFF2-40B4-BE49-F238E27FC236}">
                  <a16:creationId xmlns:a16="http://schemas.microsoft.com/office/drawing/2014/main" id="{EB352EFA-5216-2DE5-AB80-5E3C5F1045EB}"/>
                </a:ext>
              </a:extLst>
            </p:cNvPr>
            <p:cNvSpPr/>
            <p:nvPr/>
          </p:nvSpPr>
          <p:spPr>
            <a:xfrm>
              <a:off x="14617264" y="12335885"/>
              <a:ext cx="240299" cy="476799"/>
            </a:xfrm>
            <a:prstGeom prst="rect">
              <a:avLst/>
            </a:prstGeom>
            <a:solidFill>
              <a:schemeClr val="accent2">
                <a:alpha val="50000"/>
              </a:schemeClr>
            </a:solidFill>
            <a:ln>
              <a:solidFill>
                <a:schemeClr val="accent2">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59" name="Rectangle 158">
              <a:extLst>
                <a:ext uri="{FF2B5EF4-FFF2-40B4-BE49-F238E27FC236}">
                  <a16:creationId xmlns:a16="http://schemas.microsoft.com/office/drawing/2014/main" id="{446969A9-64EA-AF92-4EF7-1CD58057F0B2}"/>
                </a:ext>
              </a:extLst>
            </p:cNvPr>
            <p:cNvSpPr/>
            <p:nvPr/>
          </p:nvSpPr>
          <p:spPr>
            <a:xfrm>
              <a:off x="13154392" y="12249308"/>
              <a:ext cx="1702484" cy="94558"/>
            </a:xfrm>
            <a:prstGeom prst="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60" name="Rectangle 159">
              <a:extLst>
                <a:ext uri="{FF2B5EF4-FFF2-40B4-BE49-F238E27FC236}">
                  <a16:creationId xmlns:a16="http://schemas.microsoft.com/office/drawing/2014/main" id="{77497A77-8E9F-0F9B-D012-2799666251A5}"/>
                </a:ext>
              </a:extLst>
            </p:cNvPr>
            <p:cNvSpPr/>
            <p:nvPr/>
          </p:nvSpPr>
          <p:spPr>
            <a:xfrm>
              <a:off x="13686042" y="12343704"/>
              <a:ext cx="50845" cy="434294"/>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61" name="Rectangle 160">
              <a:extLst>
                <a:ext uri="{FF2B5EF4-FFF2-40B4-BE49-F238E27FC236}">
                  <a16:creationId xmlns:a16="http://schemas.microsoft.com/office/drawing/2014/main" id="{5C798415-3781-B12B-C1E5-D399C4731E07}"/>
                </a:ext>
              </a:extLst>
            </p:cNvPr>
            <p:cNvSpPr/>
            <p:nvPr/>
          </p:nvSpPr>
          <p:spPr>
            <a:xfrm>
              <a:off x="13980482" y="12343704"/>
              <a:ext cx="50845" cy="434294"/>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62" name="Rectangle 161">
              <a:extLst>
                <a:ext uri="{FF2B5EF4-FFF2-40B4-BE49-F238E27FC236}">
                  <a16:creationId xmlns:a16="http://schemas.microsoft.com/office/drawing/2014/main" id="{3E81BD11-B49B-E031-198A-F0E63F3B0008}"/>
                </a:ext>
              </a:extLst>
            </p:cNvPr>
            <p:cNvSpPr/>
            <p:nvPr/>
          </p:nvSpPr>
          <p:spPr>
            <a:xfrm>
              <a:off x="14270764" y="12343704"/>
              <a:ext cx="50846" cy="434294"/>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63" name="Rectangle 162">
              <a:extLst>
                <a:ext uri="{FF2B5EF4-FFF2-40B4-BE49-F238E27FC236}">
                  <a16:creationId xmlns:a16="http://schemas.microsoft.com/office/drawing/2014/main" id="{197FCA01-FC8C-B841-9217-51317F145D35}"/>
                </a:ext>
              </a:extLst>
            </p:cNvPr>
            <p:cNvSpPr/>
            <p:nvPr/>
          </p:nvSpPr>
          <p:spPr>
            <a:xfrm>
              <a:off x="13153853" y="12191806"/>
              <a:ext cx="1704558" cy="66600"/>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68" name="Rectangle 167">
              <a:extLst>
                <a:ext uri="{FF2B5EF4-FFF2-40B4-BE49-F238E27FC236}">
                  <a16:creationId xmlns:a16="http://schemas.microsoft.com/office/drawing/2014/main" id="{50F8626A-D714-0EEC-9482-45BC8F9124F3}"/>
                </a:ext>
              </a:extLst>
            </p:cNvPr>
            <p:cNvSpPr/>
            <p:nvPr/>
          </p:nvSpPr>
          <p:spPr>
            <a:xfrm>
              <a:off x="14563096" y="11353619"/>
              <a:ext cx="52315" cy="128995"/>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69" name="Rectangle 168">
              <a:extLst>
                <a:ext uri="{FF2B5EF4-FFF2-40B4-BE49-F238E27FC236}">
                  <a16:creationId xmlns:a16="http://schemas.microsoft.com/office/drawing/2014/main" id="{0C63F9A0-9701-5A01-7019-841635A96641}"/>
                </a:ext>
              </a:extLst>
            </p:cNvPr>
            <p:cNvSpPr/>
            <p:nvPr/>
          </p:nvSpPr>
          <p:spPr>
            <a:xfrm>
              <a:off x="13395761" y="12343198"/>
              <a:ext cx="50846" cy="434294"/>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70" name="Rectangle 169">
              <a:extLst>
                <a:ext uri="{FF2B5EF4-FFF2-40B4-BE49-F238E27FC236}">
                  <a16:creationId xmlns:a16="http://schemas.microsoft.com/office/drawing/2014/main" id="{2D25B62E-27C9-DD0F-BCF5-8F3074B937E8}"/>
                </a:ext>
              </a:extLst>
            </p:cNvPr>
            <p:cNvSpPr/>
            <p:nvPr/>
          </p:nvSpPr>
          <p:spPr>
            <a:xfrm>
              <a:off x="14563389" y="12343657"/>
              <a:ext cx="51247" cy="434294"/>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71" name="TextBox 170">
              <a:extLst>
                <a:ext uri="{FF2B5EF4-FFF2-40B4-BE49-F238E27FC236}">
                  <a16:creationId xmlns:a16="http://schemas.microsoft.com/office/drawing/2014/main" id="{1687F11F-705F-6CA2-6F61-2716D4634632}"/>
                </a:ext>
              </a:extLst>
            </p:cNvPr>
            <p:cNvSpPr txBox="1"/>
            <p:nvPr/>
          </p:nvSpPr>
          <p:spPr>
            <a:xfrm>
              <a:off x="12471996" y="12205205"/>
              <a:ext cx="663543" cy="652344"/>
            </a:xfrm>
            <a:prstGeom prst="rect">
              <a:avLst/>
            </a:prstGeom>
            <a:noFill/>
            <a:ln>
              <a:noFill/>
            </a:ln>
          </p:spPr>
          <p:txBody>
            <a:bodyPr wrap="square" rtlCol="0">
              <a:spAutoFit/>
            </a:bodyPr>
            <a:lstStyle/>
            <a:p>
              <a:pPr algn="ctr"/>
              <a:r>
                <a:rPr lang="en-US" sz="2400" b="1" dirty="0">
                  <a:latin typeface="Arial" panose="020B0604020202020204" pitchFamily="34" charset="0"/>
                  <a:cs typeface="Arial" panose="020B0604020202020204" pitchFamily="34" charset="0"/>
                </a:rPr>
                <a:t>Heat in oven while applying force </a:t>
              </a:r>
            </a:p>
          </p:txBody>
        </p:sp>
        <p:sp>
          <p:nvSpPr>
            <p:cNvPr id="172" name="Rectangle 171">
              <a:extLst>
                <a:ext uri="{FF2B5EF4-FFF2-40B4-BE49-F238E27FC236}">
                  <a16:creationId xmlns:a16="http://schemas.microsoft.com/office/drawing/2014/main" id="{8F82229B-1FFA-77BA-3AF6-B42A8D5625DE}"/>
                </a:ext>
              </a:extLst>
            </p:cNvPr>
            <p:cNvSpPr/>
            <p:nvPr/>
          </p:nvSpPr>
          <p:spPr>
            <a:xfrm>
              <a:off x="13151094" y="13354817"/>
              <a:ext cx="1707500" cy="94558"/>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73" name="Rectangle 172">
              <a:extLst>
                <a:ext uri="{FF2B5EF4-FFF2-40B4-BE49-F238E27FC236}">
                  <a16:creationId xmlns:a16="http://schemas.microsoft.com/office/drawing/2014/main" id="{8980EF6E-E19C-E985-88B3-C0628C45D043}"/>
                </a:ext>
              </a:extLst>
            </p:cNvPr>
            <p:cNvSpPr/>
            <p:nvPr/>
          </p:nvSpPr>
          <p:spPr>
            <a:xfrm>
              <a:off x="13679957" y="13451644"/>
              <a:ext cx="57615" cy="434294"/>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74" name="Rectangle 173">
              <a:extLst>
                <a:ext uri="{FF2B5EF4-FFF2-40B4-BE49-F238E27FC236}">
                  <a16:creationId xmlns:a16="http://schemas.microsoft.com/office/drawing/2014/main" id="{F978CCFD-9DAD-FE1F-044C-8D7D71CCE34B}"/>
                </a:ext>
              </a:extLst>
            </p:cNvPr>
            <p:cNvSpPr/>
            <p:nvPr/>
          </p:nvSpPr>
          <p:spPr>
            <a:xfrm>
              <a:off x="13970702" y="13451644"/>
              <a:ext cx="57615" cy="434294"/>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75" name="Rectangle 174">
              <a:extLst>
                <a:ext uri="{FF2B5EF4-FFF2-40B4-BE49-F238E27FC236}">
                  <a16:creationId xmlns:a16="http://schemas.microsoft.com/office/drawing/2014/main" id="{99173D03-EA9E-2967-C94F-2E98FD81C3A7}"/>
                </a:ext>
              </a:extLst>
            </p:cNvPr>
            <p:cNvSpPr/>
            <p:nvPr/>
          </p:nvSpPr>
          <p:spPr>
            <a:xfrm>
              <a:off x="14264033" y="13451644"/>
              <a:ext cx="57615" cy="434294"/>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76" name="Rectangle 175">
              <a:extLst>
                <a:ext uri="{FF2B5EF4-FFF2-40B4-BE49-F238E27FC236}">
                  <a16:creationId xmlns:a16="http://schemas.microsoft.com/office/drawing/2014/main" id="{54709264-56CE-1660-5C79-BADC64B92B38}"/>
                </a:ext>
              </a:extLst>
            </p:cNvPr>
            <p:cNvSpPr/>
            <p:nvPr/>
          </p:nvSpPr>
          <p:spPr>
            <a:xfrm>
              <a:off x="13149637" y="13297315"/>
              <a:ext cx="1708966" cy="66600"/>
            </a:xfrm>
            <a:prstGeom prst="rect">
              <a:avLst/>
            </a:prstGeom>
            <a:gradFill>
              <a:gsLst>
                <a:gs pos="0">
                  <a:schemeClr val="bg1">
                    <a:lumMod val="85000"/>
                  </a:schemeClr>
                </a:gs>
                <a:gs pos="50000">
                  <a:schemeClr val="bg1">
                    <a:lumMod val="85000"/>
                  </a:schemeClr>
                </a:gs>
                <a:gs pos="100000">
                  <a:schemeClr val="bg1">
                    <a:lumMod val="75000"/>
                  </a:schemeClr>
                </a:gs>
              </a:gsLst>
            </a:gra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77" name="Rectangle 176">
              <a:extLst>
                <a:ext uri="{FF2B5EF4-FFF2-40B4-BE49-F238E27FC236}">
                  <a16:creationId xmlns:a16="http://schemas.microsoft.com/office/drawing/2014/main" id="{A0CB995F-19EA-A395-8AB9-9AB53A19E02E}"/>
                </a:ext>
              </a:extLst>
            </p:cNvPr>
            <p:cNvSpPr/>
            <p:nvPr/>
          </p:nvSpPr>
          <p:spPr>
            <a:xfrm>
              <a:off x="13389744" y="13450901"/>
              <a:ext cx="57615" cy="434294"/>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78" name="Rectangle 177">
              <a:extLst>
                <a:ext uri="{FF2B5EF4-FFF2-40B4-BE49-F238E27FC236}">
                  <a16:creationId xmlns:a16="http://schemas.microsoft.com/office/drawing/2014/main" id="{557C4F9D-3572-7D92-7A7C-FEB9E0B0C69D}"/>
                </a:ext>
              </a:extLst>
            </p:cNvPr>
            <p:cNvSpPr/>
            <p:nvPr/>
          </p:nvSpPr>
          <p:spPr>
            <a:xfrm>
              <a:off x="14558237" y="13451125"/>
              <a:ext cx="57615" cy="434294"/>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grpSp>
      <p:pic>
        <p:nvPicPr>
          <p:cNvPr id="179" name="Picture 178" descr="A black and white background with white dots&#10;&#10;AI-generated content may be incorrect.">
            <a:extLst>
              <a:ext uri="{FF2B5EF4-FFF2-40B4-BE49-F238E27FC236}">
                <a16:creationId xmlns:a16="http://schemas.microsoft.com/office/drawing/2014/main" id="{BDF18BD9-6F07-01D5-5F8B-B1BDC150A34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229193" y="25653861"/>
            <a:ext cx="5846461" cy="3907852"/>
          </a:xfrm>
          <a:prstGeom prst="rect">
            <a:avLst/>
          </a:prstGeom>
        </p:spPr>
      </p:pic>
      <p:pic>
        <p:nvPicPr>
          <p:cNvPr id="180" name="Picture 179" descr="A close-up of a thin metal rod&#10;&#10;AI-generated content may be incorrect.">
            <a:extLst>
              <a:ext uri="{FF2B5EF4-FFF2-40B4-BE49-F238E27FC236}">
                <a16:creationId xmlns:a16="http://schemas.microsoft.com/office/drawing/2014/main" id="{F7360FBC-226A-98F2-6998-B1F2E217BEF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444609" y="25653858"/>
            <a:ext cx="5905829" cy="3907852"/>
          </a:xfrm>
          <a:prstGeom prst="rect">
            <a:avLst/>
          </a:prstGeom>
        </p:spPr>
      </p:pic>
      <p:sp>
        <p:nvSpPr>
          <p:cNvPr id="182" name="TextBox 181">
            <a:extLst>
              <a:ext uri="{FF2B5EF4-FFF2-40B4-BE49-F238E27FC236}">
                <a16:creationId xmlns:a16="http://schemas.microsoft.com/office/drawing/2014/main" id="{1D505840-ED6C-32CD-9540-547058968B88}"/>
              </a:ext>
            </a:extLst>
          </p:cNvPr>
          <p:cNvSpPr txBox="1"/>
          <p:nvPr/>
        </p:nvSpPr>
        <p:spPr>
          <a:xfrm>
            <a:off x="15799991" y="20987011"/>
            <a:ext cx="12610213" cy="3562065"/>
          </a:xfrm>
          <a:prstGeom prst="rect">
            <a:avLst/>
          </a:prstGeom>
          <a:noFill/>
          <a:ln>
            <a:solidFill>
              <a:schemeClr val="tx1"/>
            </a:solidFill>
          </a:ln>
        </p:spPr>
        <p:txBody>
          <a:bodyPr wrap="square" rtlCol="0">
            <a:spAutoFit/>
          </a:bodyPr>
          <a:lstStyle/>
          <a:p>
            <a:pPr>
              <a:spcAft>
                <a:spcPts val="600"/>
              </a:spcAft>
            </a:pPr>
            <a:r>
              <a:rPr lang="en-US" sz="3200" b="1" dirty="0">
                <a:latin typeface="Arial" panose="020B0604020202020204" pitchFamily="34" charset="0"/>
                <a:cs typeface="Arial" panose="020B0604020202020204" pitchFamily="34" charset="0"/>
              </a:rPr>
              <a:t>Parameters</a:t>
            </a:r>
            <a:endParaRPr lang="en-US" sz="3200" dirty="0">
              <a:latin typeface="Arial" panose="020B0604020202020204" pitchFamily="34" charset="0"/>
              <a:cs typeface="Arial" panose="020B0604020202020204" pitchFamily="34" charset="0"/>
            </a:endParaRPr>
          </a:p>
          <a:p>
            <a:pPr marL="457200" indent="-457200">
              <a:lnSpc>
                <a:spcPct val="120000"/>
              </a:lnSpc>
              <a:buFont typeface="Wingdings" panose="05000000000000000000" pitchFamily="2" charset="2"/>
              <a:buChar char="Ø"/>
            </a:pPr>
            <a:r>
              <a:rPr lang="en-US" sz="3200" dirty="0">
                <a:latin typeface="Arial" panose="020B0604020202020204" pitchFamily="34" charset="0"/>
                <a:cs typeface="Arial" panose="020B0604020202020204" pitchFamily="34" charset="0"/>
              </a:rPr>
              <a:t>Nanowire characteristics depend on several parameters.</a:t>
            </a:r>
          </a:p>
          <a:p>
            <a:pPr marL="457200" indent="-457200">
              <a:lnSpc>
                <a:spcPct val="120000"/>
              </a:lnSpc>
              <a:buFont typeface="Wingdings" panose="05000000000000000000" pitchFamily="2" charset="2"/>
              <a:buChar char="Ø"/>
            </a:pPr>
            <a:r>
              <a:rPr lang="en-US" sz="3200" dirty="0">
                <a:latin typeface="Arial" panose="020B0604020202020204" pitchFamily="34" charset="0"/>
                <a:cs typeface="Arial" panose="020B0604020202020204" pitchFamily="34" charset="0"/>
              </a:rPr>
              <a:t>Diameter, pore density, and length affect laser interaction data. </a:t>
            </a:r>
          </a:p>
          <a:p>
            <a:pPr marL="457200" indent="-457200">
              <a:lnSpc>
                <a:spcPct val="120000"/>
              </a:lnSpc>
              <a:buFont typeface="Wingdings" panose="05000000000000000000" pitchFamily="2" charset="2"/>
              <a:buChar char="Ø"/>
            </a:pPr>
            <a:r>
              <a:rPr lang="en-US" sz="3200" dirty="0">
                <a:latin typeface="Arial" panose="020B0604020202020204" pitchFamily="34" charset="0"/>
                <a:cs typeface="Arial" panose="020B0604020202020204" pitchFamily="34" charset="0"/>
              </a:rPr>
              <a:t>Wires are dried in a critical point dryer using CO₂.</a:t>
            </a:r>
          </a:p>
          <a:p>
            <a:pPr marL="457200" indent="-457200">
              <a:lnSpc>
                <a:spcPct val="120000"/>
              </a:lnSpc>
              <a:buFont typeface="Wingdings" panose="05000000000000000000" pitchFamily="2" charset="2"/>
              <a:buChar char="Ø"/>
            </a:pPr>
            <a:r>
              <a:rPr lang="en-US" sz="3200" dirty="0">
                <a:latin typeface="Arial" panose="020B0604020202020204" pitchFamily="34" charset="0"/>
                <a:cs typeface="Arial" panose="020B0604020202020204" pitchFamily="34" charset="0"/>
              </a:rPr>
              <a:t>Higher pore density allows more wires per micron of template.</a:t>
            </a:r>
          </a:p>
          <a:p>
            <a:pPr marL="457200" indent="-457200">
              <a:lnSpc>
                <a:spcPct val="120000"/>
              </a:lnSpc>
              <a:buFont typeface="Wingdings" panose="05000000000000000000" pitchFamily="2" charset="2"/>
              <a:buChar char="Ø"/>
            </a:pPr>
            <a:r>
              <a:rPr lang="en-US" sz="3200" dirty="0">
                <a:latin typeface="Arial" panose="020B0604020202020204" pitchFamily="34" charset="0"/>
                <a:cs typeface="Arial" panose="020B0604020202020204" pitchFamily="34" charset="0"/>
              </a:rPr>
              <a:t>High-density wires require constant pipetting.</a:t>
            </a:r>
          </a:p>
        </p:txBody>
      </p:sp>
      <p:sp>
        <p:nvSpPr>
          <p:cNvPr id="55" name="TextBox 54">
            <a:extLst>
              <a:ext uri="{FF2B5EF4-FFF2-40B4-BE49-F238E27FC236}">
                <a16:creationId xmlns:a16="http://schemas.microsoft.com/office/drawing/2014/main" id="{44975DE7-77D7-463E-64B6-74A5E7D0680D}"/>
              </a:ext>
            </a:extLst>
          </p:cNvPr>
          <p:cNvSpPr txBox="1"/>
          <p:nvPr/>
        </p:nvSpPr>
        <p:spPr>
          <a:xfrm>
            <a:off x="29627894" y="12263169"/>
            <a:ext cx="2120968" cy="1569660"/>
          </a:xfrm>
          <a:prstGeom prst="rect">
            <a:avLst/>
          </a:prstGeom>
          <a:noFill/>
          <a:ln>
            <a:noFill/>
          </a:ln>
        </p:spPr>
        <p:txBody>
          <a:bodyPr wrap="square" rtlCol="0">
            <a:spAutoFit/>
          </a:bodyPr>
          <a:lstStyle/>
          <a:p>
            <a:pPr algn="ctr"/>
            <a:r>
              <a:rPr lang="en-US" sz="2400" b="1" dirty="0">
                <a:latin typeface="Arial" panose="020B0604020202020204" pitchFamily="34" charset="0"/>
                <a:cs typeface="Arial" panose="020B0604020202020204" pitchFamily="34" charset="0"/>
              </a:rPr>
              <a:t>Machined enclosure to extrude wires</a:t>
            </a:r>
          </a:p>
        </p:txBody>
      </p:sp>
      <p:sp>
        <p:nvSpPr>
          <p:cNvPr id="107" name="Rectangle 106">
            <a:extLst>
              <a:ext uri="{FF2B5EF4-FFF2-40B4-BE49-F238E27FC236}">
                <a16:creationId xmlns:a16="http://schemas.microsoft.com/office/drawing/2014/main" id="{471AB259-104F-2787-56D9-AD19EC1BFA39}"/>
              </a:ext>
            </a:extLst>
          </p:cNvPr>
          <p:cNvSpPr/>
          <p:nvPr/>
        </p:nvSpPr>
        <p:spPr>
          <a:xfrm>
            <a:off x="32678641" y="12656621"/>
            <a:ext cx="178152" cy="310386"/>
          </a:xfrm>
          <a:prstGeom prst="rect">
            <a:avLst/>
          </a:prstGeom>
          <a:solidFill>
            <a:schemeClr val="accent6">
              <a:lumMod val="75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84" name="Rectangle 183">
            <a:extLst>
              <a:ext uri="{FF2B5EF4-FFF2-40B4-BE49-F238E27FC236}">
                <a16:creationId xmlns:a16="http://schemas.microsoft.com/office/drawing/2014/main" id="{28E7B28D-DAB5-94D5-7A35-D18327CA0C7B}"/>
              </a:ext>
            </a:extLst>
          </p:cNvPr>
          <p:cNvSpPr/>
          <p:nvPr/>
        </p:nvSpPr>
        <p:spPr>
          <a:xfrm>
            <a:off x="31905190" y="11241233"/>
            <a:ext cx="5626490" cy="160252"/>
          </a:xfrm>
          <a:prstGeom prst="rect">
            <a:avLst/>
          </a:prstGeom>
          <a:solidFill>
            <a:schemeClr val="accent1">
              <a:lumMod val="60000"/>
              <a:lumOff val="40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85" name="Rectangle 184">
            <a:extLst>
              <a:ext uri="{FF2B5EF4-FFF2-40B4-BE49-F238E27FC236}">
                <a16:creationId xmlns:a16="http://schemas.microsoft.com/office/drawing/2014/main" id="{FCF85222-F382-419C-2FD8-EC5091DB77FA}"/>
              </a:ext>
            </a:extLst>
          </p:cNvPr>
          <p:cNvSpPr/>
          <p:nvPr/>
        </p:nvSpPr>
        <p:spPr>
          <a:xfrm>
            <a:off x="31884933" y="13790408"/>
            <a:ext cx="5626490" cy="160252"/>
          </a:xfrm>
          <a:prstGeom prst="rect">
            <a:avLst/>
          </a:prstGeom>
          <a:solidFill>
            <a:schemeClr val="accent1">
              <a:lumMod val="60000"/>
              <a:lumOff val="40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86" name="Rectangle 185">
            <a:extLst>
              <a:ext uri="{FF2B5EF4-FFF2-40B4-BE49-F238E27FC236}">
                <a16:creationId xmlns:a16="http://schemas.microsoft.com/office/drawing/2014/main" id="{15111CA5-5CB9-8111-307E-6B82A7EA765C}"/>
              </a:ext>
            </a:extLst>
          </p:cNvPr>
          <p:cNvSpPr/>
          <p:nvPr/>
        </p:nvSpPr>
        <p:spPr>
          <a:xfrm>
            <a:off x="31881397" y="16176466"/>
            <a:ext cx="5626490" cy="160252"/>
          </a:xfrm>
          <a:prstGeom prst="rect">
            <a:avLst/>
          </a:prstGeom>
          <a:solidFill>
            <a:schemeClr val="accent1">
              <a:lumMod val="60000"/>
              <a:lumOff val="40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87" name="Rectangle 186">
            <a:extLst>
              <a:ext uri="{FF2B5EF4-FFF2-40B4-BE49-F238E27FC236}">
                <a16:creationId xmlns:a16="http://schemas.microsoft.com/office/drawing/2014/main" id="{721EC232-920D-BE02-C261-5BC357E9036B}"/>
              </a:ext>
            </a:extLst>
          </p:cNvPr>
          <p:cNvSpPr/>
          <p:nvPr/>
        </p:nvSpPr>
        <p:spPr>
          <a:xfrm>
            <a:off x="31930198" y="6524598"/>
            <a:ext cx="5627435" cy="160252"/>
          </a:xfrm>
          <a:prstGeom prst="rect">
            <a:avLst/>
          </a:prstGeom>
          <a:solidFill>
            <a:schemeClr val="accent1">
              <a:lumMod val="60000"/>
              <a:lumOff val="40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88" name="Rectangle 187">
            <a:extLst>
              <a:ext uri="{FF2B5EF4-FFF2-40B4-BE49-F238E27FC236}">
                <a16:creationId xmlns:a16="http://schemas.microsoft.com/office/drawing/2014/main" id="{8095CEDD-23FF-7335-EBD4-D48EC29FA031}"/>
              </a:ext>
            </a:extLst>
          </p:cNvPr>
          <p:cNvSpPr/>
          <p:nvPr/>
        </p:nvSpPr>
        <p:spPr>
          <a:xfrm>
            <a:off x="31929253" y="8750404"/>
            <a:ext cx="5627435" cy="160252"/>
          </a:xfrm>
          <a:prstGeom prst="rect">
            <a:avLst/>
          </a:prstGeom>
          <a:solidFill>
            <a:schemeClr val="accent1">
              <a:lumMod val="60000"/>
              <a:lumOff val="40000"/>
            </a:schemeClr>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89" name="TextBox 188">
            <a:extLst>
              <a:ext uri="{FF2B5EF4-FFF2-40B4-BE49-F238E27FC236}">
                <a16:creationId xmlns:a16="http://schemas.microsoft.com/office/drawing/2014/main" id="{8684A465-22F3-F7EB-7258-2D0B83227501}"/>
              </a:ext>
            </a:extLst>
          </p:cNvPr>
          <p:cNvSpPr txBox="1"/>
          <p:nvPr/>
        </p:nvSpPr>
        <p:spPr>
          <a:xfrm>
            <a:off x="15229193" y="29580193"/>
            <a:ext cx="5846461" cy="584775"/>
          </a:xfrm>
          <a:prstGeom prst="rect">
            <a:avLst/>
          </a:prstGeom>
          <a:noFill/>
          <a:ln>
            <a:solidFill>
              <a:schemeClr val="tx1"/>
            </a:solidFill>
          </a:ln>
        </p:spPr>
        <p:txBody>
          <a:bodyPr wrap="square" rtlCol="0">
            <a:spAutoFit/>
          </a:bodyPr>
          <a:lstStyle/>
          <a:p>
            <a:pPr algn="ctr"/>
            <a:r>
              <a:rPr lang="en-US" sz="3200" dirty="0">
                <a:latin typeface="Arial" panose="020B0604020202020204" pitchFamily="34" charset="0"/>
                <a:cs typeface="Arial" panose="020B0604020202020204" pitchFamily="34" charset="0"/>
              </a:rPr>
              <a:t>Top View</a:t>
            </a:r>
          </a:p>
        </p:txBody>
      </p:sp>
      <p:sp>
        <p:nvSpPr>
          <p:cNvPr id="190" name="TextBox 189">
            <a:extLst>
              <a:ext uri="{FF2B5EF4-FFF2-40B4-BE49-F238E27FC236}">
                <a16:creationId xmlns:a16="http://schemas.microsoft.com/office/drawing/2014/main" id="{265E344E-BAD4-6923-3485-FD30B4980E65}"/>
              </a:ext>
            </a:extLst>
          </p:cNvPr>
          <p:cNvSpPr txBox="1"/>
          <p:nvPr/>
        </p:nvSpPr>
        <p:spPr>
          <a:xfrm>
            <a:off x="21444609" y="29582825"/>
            <a:ext cx="5905829" cy="584775"/>
          </a:xfrm>
          <a:prstGeom prst="rect">
            <a:avLst/>
          </a:prstGeom>
          <a:noFill/>
          <a:ln>
            <a:solidFill>
              <a:schemeClr val="tx1"/>
            </a:solidFill>
          </a:ln>
        </p:spPr>
        <p:txBody>
          <a:bodyPr wrap="square" rtlCol="0">
            <a:spAutoFit/>
          </a:bodyPr>
          <a:lstStyle/>
          <a:p>
            <a:pPr algn="ctr"/>
            <a:r>
              <a:rPr lang="en-US" sz="3200" dirty="0">
                <a:latin typeface="Arial" panose="020B0604020202020204" pitchFamily="34" charset="0"/>
                <a:cs typeface="Arial" panose="020B0604020202020204" pitchFamily="34" charset="0"/>
              </a:rPr>
              <a:t>Side View</a:t>
            </a:r>
          </a:p>
        </p:txBody>
      </p:sp>
      <p:pic>
        <p:nvPicPr>
          <p:cNvPr id="192" name="Picture 191" descr="A close-up of a television screen&#10;&#10;AI-generated content may be incorrect.">
            <a:extLst>
              <a:ext uri="{FF2B5EF4-FFF2-40B4-BE49-F238E27FC236}">
                <a16:creationId xmlns:a16="http://schemas.microsoft.com/office/drawing/2014/main" id="{A8E8992B-CD34-F081-FE57-DCA1EA64D0C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063338" y="25658286"/>
            <a:ext cx="5905829" cy="3898996"/>
          </a:xfrm>
          <a:prstGeom prst="rect">
            <a:avLst/>
          </a:prstGeom>
        </p:spPr>
      </p:pic>
      <p:pic>
        <p:nvPicPr>
          <p:cNvPr id="194" name="Picture 193" descr="A close-up of a forest&#10;&#10;AI-generated content may be incorrect.">
            <a:extLst>
              <a:ext uri="{FF2B5EF4-FFF2-40B4-BE49-F238E27FC236}">
                <a16:creationId xmlns:a16="http://schemas.microsoft.com/office/drawing/2014/main" id="{C574E1AF-80BE-867C-63E3-FA8EFDEB19C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7464663" y="25658286"/>
            <a:ext cx="5881766" cy="3898996"/>
          </a:xfrm>
          <a:prstGeom prst="rect">
            <a:avLst/>
          </a:prstGeom>
        </p:spPr>
      </p:pic>
      <p:sp>
        <p:nvSpPr>
          <p:cNvPr id="195" name="TextBox 194">
            <a:extLst>
              <a:ext uri="{FF2B5EF4-FFF2-40B4-BE49-F238E27FC236}">
                <a16:creationId xmlns:a16="http://schemas.microsoft.com/office/drawing/2014/main" id="{2BFD09D8-97CE-EA34-1606-BAD6DDA041AF}"/>
              </a:ext>
            </a:extLst>
          </p:cNvPr>
          <p:cNvSpPr txBox="1"/>
          <p:nvPr/>
        </p:nvSpPr>
        <p:spPr>
          <a:xfrm>
            <a:off x="37464664" y="29580193"/>
            <a:ext cx="5881766" cy="584775"/>
          </a:xfrm>
          <a:prstGeom prst="rect">
            <a:avLst/>
          </a:prstGeom>
          <a:noFill/>
          <a:ln>
            <a:solidFill>
              <a:schemeClr val="tx1"/>
            </a:solidFill>
          </a:ln>
        </p:spPr>
        <p:txBody>
          <a:bodyPr wrap="square" rtlCol="0">
            <a:spAutoFit/>
          </a:bodyPr>
          <a:lstStyle/>
          <a:p>
            <a:pPr algn="ctr"/>
            <a:r>
              <a:rPr lang="en-US" sz="3200" dirty="0">
                <a:latin typeface="Arial" panose="020B0604020202020204" pitchFamily="34" charset="0"/>
                <a:cs typeface="Arial" panose="020B0604020202020204" pitchFamily="34" charset="0"/>
              </a:rPr>
              <a:t>Side View</a:t>
            </a:r>
          </a:p>
        </p:txBody>
      </p:sp>
      <p:sp>
        <p:nvSpPr>
          <p:cNvPr id="196" name="TextBox 195">
            <a:extLst>
              <a:ext uri="{FF2B5EF4-FFF2-40B4-BE49-F238E27FC236}">
                <a16:creationId xmlns:a16="http://schemas.microsoft.com/office/drawing/2014/main" id="{58ABDEA7-BA8C-3C6A-CEE3-1D35596D1346}"/>
              </a:ext>
            </a:extLst>
          </p:cNvPr>
          <p:cNvSpPr txBox="1"/>
          <p:nvPr/>
        </p:nvSpPr>
        <p:spPr>
          <a:xfrm>
            <a:off x="31058834" y="29580194"/>
            <a:ext cx="5905829" cy="584775"/>
          </a:xfrm>
          <a:prstGeom prst="rect">
            <a:avLst/>
          </a:prstGeom>
          <a:noFill/>
          <a:ln>
            <a:solidFill>
              <a:schemeClr val="tx1"/>
            </a:solidFill>
          </a:ln>
        </p:spPr>
        <p:txBody>
          <a:bodyPr wrap="square" rtlCol="0">
            <a:spAutoFit/>
          </a:bodyPr>
          <a:lstStyle/>
          <a:p>
            <a:pPr algn="ctr"/>
            <a:r>
              <a:rPr lang="en-US" sz="3200" dirty="0">
                <a:latin typeface="Arial" panose="020B0604020202020204" pitchFamily="34" charset="0"/>
                <a:cs typeface="Arial" panose="020B0604020202020204" pitchFamily="34" charset="0"/>
              </a:rPr>
              <a:t>Top View</a:t>
            </a:r>
          </a:p>
        </p:txBody>
      </p:sp>
      <p:sp>
        <p:nvSpPr>
          <p:cNvPr id="197" name="TextBox 196">
            <a:extLst>
              <a:ext uri="{FF2B5EF4-FFF2-40B4-BE49-F238E27FC236}">
                <a16:creationId xmlns:a16="http://schemas.microsoft.com/office/drawing/2014/main" id="{CE92A1E1-06FB-E8BA-ABAD-49EBC5597624}"/>
              </a:ext>
            </a:extLst>
          </p:cNvPr>
          <p:cNvSpPr txBox="1"/>
          <p:nvPr/>
        </p:nvSpPr>
        <p:spPr>
          <a:xfrm>
            <a:off x="29870957" y="19248241"/>
            <a:ext cx="7962148" cy="5586145"/>
          </a:xfrm>
          <a:prstGeom prst="rect">
            <a:avLst/>
          </a:prstGeom>
          <a:noFill/>
          <a:ln>
            <a:solidFill>
              <a:schemeClr val="tx1"/>
            </a:solidFill>
          </a:ln>
        </p:spPr>
        <p:txBody>
          <a:bodyPr wrap="square" rtlCol="0">
            <a:spAutoFit/>
          </a:bodyPr>
          <a:lstStyle/>
          <a:p>
            <a:pPr>
              <a:spcAft>
                <a:spcPts val="600"/>
              </a:spcAft>
            </a:pPr>
            <a:r>
              <a:rPr lang="en-US" sz="3200" b="1" dirty="0">
                <a:latin typeface="Arial" panose="020B0604020202020204" pitchFamily="34" charset="0"/>
                <a:cs typeface="Arial" panose="020B0604020202020204" pitchFamily="34" charset="0"/>
              </a:rPr>
              <a:t>Parameters</a:t>
            </a:r>
            <a:endParaRPr lang="en-US" sz="3200" dirty="0">
              <a:highlight>
                <a:srgbClr val="FFFF00"/>
              </a:highlight>
              <a:latin typeface="Arial" panose="020B0604020202020204" pitchFamily="34" charset="0"/>
              <a:cs typeface="Arial" panose="020B0604020202020204" pitchFamily="34" charset="0"/>
            </a:endParaRP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CH2 wires are extruded through a lattice in an AAO Template</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Extrusion occurs in a 200°C oven</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Wire lengths are limited to 5µm or 10 µm.</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Cleaning is similar to nickel nanowires but excludes nitric acid.</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A thermocouple monitors the press until it reaches 140°C.</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Wires are dissolved in NaOH at 50°C.</a:t>
            </a:r>
          </a:p>
        </p:txBody>
      </p:sp>
      <p:pic>
        <p:nvPicPr>
          <p:cNvPr id="199" name="Picture 198" descr="A rectangular object with circles on it&#10;&#10;AI-generated content may be incorrect.">
            <a:extLst>
              <a:ext uri="{FF2B5EF4-FFF2-40B4-BE49-F238E27FC236}">
                <a16:creationId xmlns:a16="http://schemas.microsoft.com/office/drawing/2014/main" id="{8D176F84-5E66-22B0-ED7A-498F67927C09}"/>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88613" y="22391068"/>
            <a:ext cx="1841723" cy="7827888"/>
          </a:xfrm>
          <a:prstGeom prst="rect">
            <a:avLst/>
          </a:prstGeom>
        </p:spPr>
      </p:pic>
      <p:sp>
        <p:nvSpPr>
          <p:cNvPr id="3" name="TextBox 2">
            <a:extLst>
              <a:ext uri="{FF2B5EF4-FFF2-40B4-BE49-F238E27FC236}">
                <a16:creationId xmlns:a16="http://schemas.microsoft.com/office/drawing/2014/main" id="{76DC4409-1DF3-0BA4-F241-7F82A855C8F6}"/>
              </a:ext>
            </a:extLst>
          </p:cNvPr>
          <p:cNvSpPr txBox="1"/>
          <p:nvPr/>
        </p:nvSpPr>
        <p:spPr>
          <a:xfrm>
            <a:off x="520277" y="15263245"/>
            <a:ext cx="14074324" cy="1569660"/>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Nanowires are irradiated with a relativistic femtosecond laser pulse, and light absorption values are compared to flat targets</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The process of shooting nanowires and flat targets is shown below</a:t>
            </a:r>
          </a:p>
        </p:txBody>
      </p:sp>
      <p:sp>
        <p:nvSpPr>
          <p:cNvPr id="128" name="Down Arrow 53">
            <a:extLst>
              <a:ext uri="{FF2B5EF4-FFF2-40B4-BE49-F238E27FC236}">
                <a16:creationId xmlns:a16="http://schemas.microsoft.com/office/drawing/2014/main" id="{9D8E7C6D-4FD5-85B6-C1FA-CF7129D6E218}"/>
              </a:ext>
            </a:extLst>
          </p:cNvPr>
          <p:cNvSpPr/>
          <p:nvPr/>
        </p:nvSpPr>
        <p:spPr>
          <a:xfrm>
            <a:off x="33134661" y="14163822"/>
            <a:ext cx="211632" cy="357597"/>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37" name="Down Arrow 53">
            <a:extLst>
              <a:ext uri="{FF2B5EF4-FFF2-40B4-BE49-F238E27FC236}">
                <a16:creationId xmlns:a16="http://schemas.microsoft.com/office/drawing/2014/main" id="{11414BD7-B1EB-1142-CB43-38565D438B21}"/>
              </a:ext>
            </a:extLst>
          </p:cNvPr>
          <p:cNvSpPr/>
          <p:nvPr/>
        </p:nvSpPr>
        <p:spPr>
          <a:xfrm>
            <a:off x="34113538" y="14163822"/>
            <a:ext cx="211632" cy="357597"/>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38" name="Down Arrow 53">
            <a:extLst>
              <a:ext uri="{FF2B5EF4-FFF2-40B4-BE49-F238E27FC236}">
                <a16:creationId xmlns:a16="http://schemas.microsoft.com/office/drawing/2014/main" id="{9A2B3B9A-AA7F-4388-DAE4-D38C1D88CA2C}"/>
              </a:ext>
            </a:extLst>
          </p:cNvPr>
          <p:cNvSpPr/>
          <p:nvPr/>
        </p:nvSpPr>
        <p:spPr>
          <a:xfrm>
            <a:off x="35045522" y="14162662"/>
            <a:ext cx="211632" cy="357597"/>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39" name="Down Arrow 53">
            <a:extLst>
              <a:ext uri="{FF2B5EF4-FFF2-40B4-BE49-F238E27FC236}">
                <a16:creationId xmlns:a16="http://schemas.microsoft.com/office/drawing/2014/main" id="{5B36919A-8607-09FC-DB3B-64C16C1D61EB}"/>
              </a:ext>
            </a:extLst>
          </p:cNvPr>
          <p:cNvSpPr/>
          <p:nvPr/>
        </p:nvSpPr>
        <p:spPr>
          <a:xfrm>
            <a:off x="36024399" y="14162662"/>
            <a:ext cx="211632" cy="357597"/>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65" name="Down Arrow 53">
            <a:extLst>
              <a:ext uri="{FF2B5EF4-FFF2-40B4-BE49-F238E27FC236}">
                <a16:creationId xmlns:a16="http://schemas.microsoft.com/office/drawing/2014/main" id="{7C1CB029-6FFE-BEFB-FCC9-793AFAFB63EA}"/>
              </a:ext>
            </a:extLst>
          </p:cNvPr>
          <p:cNvSpPr/>
          <p:nvPr/>
        </p:nvSpPr>
        <p:spPr>
          <a:xfrm>
            <a:off x="37003276" y="14162662"/>
            <a:ext cx="211632" cy="357597"/>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pic>
        <p:nvPicPr>
          <p:cNvPr id="1060" name="Picture 6" descr="Integrating sphere schematic showing key components of sphere and... |  Download Scientific Diagram">
            <a:extLst>
              <a:ext uri="{FF2B5EF4-FFF2-40B4-BE49-F238E27FC236}">
                <a16:creationId xmlns:a16="http://schemas.microsoft.com/office/drawing/2014/main" id="{F64491CD-AF78-F478-BD91-E5EDDBE22249}"/>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310" t="-2260" r="1"/>
          <a:stretch>
            <a:fillRect/>
          </a:stretch>
        </p:blipFill>
        <p:spPr bwMode="auto">
          <a:xfrm>
            <a:off x="8644539" y="9993796"/>
            <a:ext cx="5827602" cy="3956863"/>
          </a:xfrm>
          <a:prstGeom prst="rect">
            <a:avLst/>
          </a:prstGeom>
          <a:noFill/>
          <a:extLst>
            <a:ext uri="{909E8E84-426E-40DD-AFC4-6F175D3DCCD1}">
              <a14:hiddenFill xmlns:a14="http://schemas.microsoft.com/office/drawing/2010/main">
                <a:solidFill>
                  <a:srgbClr val="FFFFFF"/>
                </a:solidFill>
              </a14:hiddenFill>
            </a:ext>
          </a:extLst>
        </p:spPr>
      </p:pic>
      <p:grpSp>
        <p:nvGrpSpPr>
          <p:cNvPr id="1061" name="Group 1060">
            <a:extLst>
              <a:ext uri="{FF2B5EF4-FFF2-40B4-BE49-F238E27FC236}">
                <a16:creationId xmlns:a16="http://schemas.microsoft.com/office/drawing/2014/main" id="{B07E9278-8109-D57B-7CDE-4BAC19743F27}"/>
              </a:ext>
            </a:extLst>
          </p:cNvPr>
          <p:cNvGrpSpPr/>
          <p:nvPr/>
        </p:nvGrpSpPr>
        <p:grpSpPr>
          <a:xfrm>
            <a:off x="37937325" y="12650324"/>
            <a:ext cx="5409104" cy="4479436"/>
            <a:chOff x="0" y="0"/>
            <a:chExt cx="6854221" cy="5554413"/>
          </a:xfrm>
        </p:grpSpPr>
        <p:grpSp>
          <p:nvGrpSpPr>
            <p:cNvPr id="1062" name="Group 1061">
              <a:extLst>
                <a:ext uri="{FF2B5EF4-FFF2-40B4-BE49-F238E27FC236}">
                  <a16:creationId xmlns:a16="http://schemas.microsoft.com/office/drawing/2014/main" id="{CE654320-8F76-432A-E8A4-7A6D0D3D8B7D}"/>
                </a:ext>
              </a:extLst>
            </p:cNvPr>
            <p:cNvGrpSpPr/>
            <p:nvPr/>
          </p:nvGrpSpPr>
          <p:grpSpPr>
            <a:xfrm>
              <a:off x="0" y="0"/>
              <a:ext cx="6854221" cy="5554413"/>
              <a:chOff x="0" y="0"/>
              <a:chExt cx="6854221" cy="5554413"/>
            </a:xfrm>
          </p:grpSpPr>
          <p:grpSp>
            <p:nvGrpSpPr>
              <p:cNvPr id="1069" name="Group 1068">
                <a:extLst>
                  <a:ext uri="{FF2B5EF4-FFF2-40B4-BE49-F238E27FC236}">
                    <a16:creationId xmlns:a16="http://schemas.microsoft.com/office/drawing/2014/main" id="{9E675D82-79A4-C280-31A2-DB8F75B733DC}"/>
                  </a:ext>
                </a:extLst>
              </p:cNvPr>
              <p:cNvGrpSpPr/>
              <p:nvPr/>
            </p:nvGrpSpPr>
            <p:grpSpPr>
              <a:xfrm>
                <a:off x="0" y="0"/>
                <a:ext cx="6854221" cy="5554413"/>
                <a:chOff x="0" y="0"/>
                <a:chExt cx="6854221" cy="5554413"/>
              </a:xfrm>
            </p:grpSpPr>
            <p:sp>
              <p:nvSpPr>
                <p:cNvPr id="1072" name="Rectangle: Rounded Corners 1071">
                  <a:extLst>
                    <a:ext uri="{FF2B5EF4-FFF2-40B4-BE49-F238E27FC236}">
                      <a16:creationId xmlns:a16="http://schemas.microsoft.com/office/drawing/2014/main" id="{E2686D49-E900-7B26-04BB-5B774CA2E38E}"/>
                    </a:ext>
                  </a:extLst>
                </p:cNvPr>
                <p:cNvSpPr/>
                <p:nvPr/>
              </p:nvSpPr>
              <p:spPr>
                <a:xfrm>
                  <a:off x="0" y="0"/>
                  <a:ext cx="6854221" cy="5554413"/>
                </a:xfrm>
                <a:prstGeom prst="roundRect">
                  <a:avLst/>
                </a:prstGeom>
                <a:solidFill>
                  <a:schemeClr val="accent2">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073" name="Rectangle 1072">
                  <a:extLst>
                    <a:ext uri="{FF2B5EF4-FFF2-40B4-BE49-F238E27FC236}">
                      <a16:creationId xmlns:a16="http://schemas.microsoft.com/office/drawing/2014/main" id="{9B47748D-E10A-1D1C-E623-4D6567F505D2}"/>
                    </a:ext>
                  </a:extLst>
                </p:cNvPr>
                <p:cNvSpPr/>
                <p:nvPr/>
              </p:nvSpPr>
              <p:spPr>
                <a:xfrm>
                  <a:off x="666307" y="652130"/>
                  <a:ext cx="4095908" cy="3899425"/>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074" name="Rectangle 1073">
                  <a:extLst>
                    <a:ext uri="{FF2B5EF4-FFF2-40B4-BE49-F238E27FC236}">
                      <a16:creationId xmlns:a16="http://schemas.microsoft.com/office/drawing/2014/main" id="{0BAC61AA-8E19-548C-E914-F338DA8E18A3}"/>
                    </a:ext>
                  </a:extLst>
                </p:cNvPr>
                <p:cNvSpPr/>
                <p:nvPr/>
              </p:nvSpPr>
              <p:spPr>
                <a:xfrm>
                  <a:off x="5181600" y="652130"/>
                  <a:ext cx="1171339" cy="1314922"/>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1070" name="Rectangle 1069">
                <a:extLst>
                  <a:ext uri="{FF2B5EF4-FFF2-40B4-BE49-F238E27FC236}">
                    <a16:creationId xmlns:a16="http://schemas.microsoft.com/office/drawing/2014/main" id="{7D637200-8932-1BA5-2E36-3B7AAFCC4CF3}"/>
                  </a:ext>
                </a:extLst>
              </p:cNvPr>
              <p:cNvSpPr/>
              <p:nvPr/>
            </p:nvSpPr>
            <p:spPr>
              <a:xfrm>
                <a:off x="1644503" y="4160874"/>
                <a:ext cx="1881218" cy="372749"/>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071" name="Rectangle 1070">
                <a:extLst>
                  <a:ext uri="{FF2B5EF4-FFF2-40B4-BE49-F238E27FC236}">
                    <a16:creationId xmlns:a16="http://schemas.microsoft.com/office/drawing/2014/main" id="{91A8116B-636A-D9FC-3FBD-0375D1EB507E}"/>
                  </a:ext>
                </a:extLst>
              </p:cNvPr>
              <p:cNvSpPr/>
              <p:nvPr/>
            </p:nvSpPr>
            <p:spPr>
              <a:xfrm>
                <a:off x="1708951" y="4189126"/>
                <a:ext cx="1748885" cy="320328"/>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1063" name="Group 1062">
              <a:extLst>
                <a:ext uri="{FF2B5EF4-FFF2-40B4-BE49-F238E27FC236}">
                  <a16:creationId xmlns:a16="http://schemas.microsoft.com/office/drawing/2014/main" id="{D84B5C9C-9D15-88DC-4785-9DEA51D7F68C}"/>
                </a:ext>
              </a:extLst>
            </p:cNvPr>
            <p:cNvGrpSpPr/>
            <p:nvPr/>
          </p:nvGrpSpPr>
          <p:grpSpPr>
            <a:xfrm>
              <a:off x="2695667" y="3294910"/>
              <a:ext cx="666750" cy="865505"/>
              <a:chOff x="0" y="0"/>
              <a:chExt cx="1871472" cy="2430656"/>
            </a:xfrm>
          </p:grpSpPr>
          <p:sp>
            <p:nvSpPr>
              <p:cNvPr id="1067" name="Freeform: Shape 1066">
                <a:extLst>
                  <a:ext uri="{FF2B5EF4-FFF2-40B4-BE49-F238E27FC236}">
                    <a16:creationId xmlns:a16="http://schemas.microsoft.com/office/drawing/2014/main" id="{F69B0581-3D45-8273-C9DE-1BD2BEBDA674}"/>
                  </a:ext>
                </a:extLst>
              </p:cNvPr>
              <p:cNvSpPr/>
              <p:nvPr/>
            </p:nvSpPr>
            <p:spPr>
              <a:xfrm>
                <a:off x="0" y="0"/>
                <a:ext cx="1866587" cy="2430656"/>
              </a:xfrm>
              <a:custGeom>
                <a:avLst/>
                <a:gdLst>
                  <a:gd name="connsiteX0" fmla="*/ 468536 w 1859028"/>
                  <a:gd name="connsiteY0" fmla="*/ 0 h 1586975"/>
                  <a:gd name="connsiteX1" fmla="*/ 1360265 w 1859028"/>
                  <a:gd name="connsiteY1" fmla="*/ 0 h 1586975"/>
                  <a:gd name="connsiteX2" fmla="*/ 1360265 w 1859028"/>
                  <a:gd name="connsiteY2" fmla="*/ 733031 h 1586975"/>
                  <a:gd name="connsiteX3" fmla="*/ 1859028 w 1859028"/>
                  <a:gd name="connsiteY3" fmla="*/ 733031 h 1586975"/>
                  <a:gd name="connsiteX4" fmla="*/ 1859028 w 1859028"/>
                  <a:gd name="connsiteY4" fmla="*/ 1586975 h 1586975"/>
                  <a:gd name="connsiteX5" fmla="*/ 0 w 1859028"/>
                  <a:gd name="connsiteY5" fmla="*/ 1586975 h 1586975"/>
                  <a:gd name="connsiteX6" fmla="*/ 0 w 1859028"/>
                  <a:gd name="connsiteY6" fmla="*/ 717917 h 1586975"/>
                  <a:gd name="connsiteX7" fmla="*/ 453422 w 1859028"/>
                  <a:gd name="connsiteY7" fmla="*/ 717917 h 1586975"/>
                  <a:gd name="connsiteX8" fmla="*/ 468536 w 1859028"/>
                  <a:gd name="connsiteY8" fmla="*/ 0 h 1586975"/>
                  <a:gd name="connsiteX0" fmla="*/ 476095 w 1866587"/>
                  <a:gd name="connsiteY0" fmla="*/ 0 h 2410748"/>
                  <a:gd name="connsiteX1" fmla="*/ 1367824 w 1866587"/>
                  <a:gd name="connsiteY1" fmla="*/ 0 h 2410748"/>
                  <a:gd name="connsiteX2" fmla="*/ 1367824 w 1866587"/>
                  <a:gd name="connsiteY2" fmla="*/ 733031 h 2410748"/>
                  <a:gd name="connsiteX3" fmla="*/ 1866587 w 1866587"/>
                  <a:gd name="connsiteY3" fmla="*/ 733031 h 2410748"/>
                  <a:gd name="connsiteX4" fmla="*/ 1866587 w 1866587"/>
                  <a:gd name="connsiteY4" fmla="*/ 1586975 h 2410748"/>
                  <a:gd name="connsiteX5" fmla="*/ 0 w 1866587"/>
                  <a:gd name="connsiteY5" fmla="*/ 2410748 h 2410748"/>
                  <a:gd name="connsiteX6" fmla="*/ 7559 w 1866587"/>
                  <a:gd name="connsiteY6" fmla="*/ 717917 h 2410748"/>
                  <a:gd name="connsiteX7" fmla="*/ 460981 w 1866587"/>
                  <a:gd name="connsiteY7" fmla="*/ 717917 h 2410748"/>
                  <a:gd name="connsiteX8" fmla="*/ 476095 w 1866587"/>
                  <a:gd name="connsiteY8" fmla="*/ 0 h 2410748"/>
                  <a:gd name="connsiteX0" fmla="*/ 476095 w 1866587"/>
                  <a:gd name="connsiteY0" fmla="*/ 0 h 2425905"/>
                  <a:gd name="connsiteX1" fmla="*/ 1367824 w 1866587"/>
                  <a:gd name="connsiteY1" fmla="*/ 0 h 2425905"/>
                  <a:gd name="connsiteX2" fmla="*/ 1367824 w 1866587"/>
                  <a:gd name="connsiteY2" fmla="*/ 733031 h 2425905"/>
                  <a:gd name="connsiteX3" fmla="*/ 1866587 w 1866587"/>
                  <a:gd name="connsiteY3" fmla="*/ 733031 h 2425905"/>
                  <a:gd name="connsiteX4" fmla="*/ 1866587 w 1866587"/>
                  <a:gd name="connsiteY4" fmla="*/ 2425905 h 2425905"/>
                  <a:gd name="connsiteX5" fmla="*/ 0 w 1866587"/>
                  <a:gd name="connsiteY5" fmla="*/ 2410748 h 2425905"/>
                  <a:gd name="connsiteX6" fmla="*/ 7559 w 1866587"/>
                  <a:gd name="connsiteY6" fmla="*/ 717917 h 2425905"/>
                  <a:gd name="connsiteX7" fmla="*/ 460981 w 1866587"/>
                  <a:gd name="connsiteY7" fmla="*/ 717917 h 2425905"/>
                  <a:gd name="connsiteX8" fmla="*/ 476095 w 1866587"/>
                  <a:gd name="connsiteY8" fmla="*/ 0 h 2425905"/>
                  <a:gd name="connsiteX0" fmla="*/ 476095 w 1866587"/>
                  <a:gd name="connsiteY0" fmla="*/ 0 h 2425905"/>
                  <a:gd name="connsiteX1" fmla="*/ 1367824 w 1866587"/>
                  <a:gd name="connsiteY1" fmla="*/ 0 h 2425905"/>
                  <a:gd name="connsiteX2" fmla="*/ 1367824 w 1866587"/>
                  <a:gd name="connsiteY2" fmla="*/ 733031 h 2425905"/>
                  <a:gd name="connsiteX3" fmla="*/ 1866587 w 1866587"/>
                  <a:gd name="connsiteY3" fmla="*/ 733031 h 2425905"/>
                  <a:gd name="connsiteX4" fmla="*/ 1866587 w 1866587"/>
                  <a:gd name="connsiteY4" fmla="*/ 2425905 h 2425905"/>
                  <a:gd name="connsiteX5" fmla="*/ 0 w 1866587"/>
                  <a:gd name="connsiteY5" fmla="*/ 2410748 h 2425905"/>
                  <a:gd name="connsiteX6" fmla="*/ 7559 w 1866587"/>
                  <a:gd name="connsiteY6" fmla="*/ 717917 h 2425905"/>
                  <a:gd name="connsiteX7" fmla="*/ 494237 w 1866587"/>
                  <a:gd name="connsiteY7" fmla="*/ 717917 h 2425905"/>
                  <a:gd name="connsiteX8" fmla="*/ 476095 w 1866587"/>
                  <a:gd name="connsiteY8" fmla="*/ 0 h 2425905"/>
                  <a:gd name="connsiteX0" fmla="*/ 506976 w 1866587"/>
                  <a:gd name="connsiteY0" fmla="*/ 0 h 2425905"/>
                  <a:gd name="connsiteX1" fmla="*/ 1367824 w 1866587"/>
                  <a:gd name="connsiteY1" fmla="*/ 0 h 2425905"/>
                  <a:gd name="connsiteX2" fmla="*/ 1367824 w 1866587"/>
                  <a:gd name="connsiteY2" fmla="*/ 733031 h 2425905"/>
                  <a:gd name="connsiteX3" fmla="*/ 1866587 w 1866587"/>
                  <a:gd name="connsiteY3" fmla="*/ 733031 h 2425905"/>
                  <a:gd name="connsiteX4" fmla="*/ 1866587 w 1866587"/>
                  <a:gd name="connsiteY4" fmla="*/ 2425905 h 2425905"/>
                  <a:gd name="connsiteX5" fmla="*/ 0 w 1866587"/>
                  <a:gd name="connsiteY5" fmla="*/ 2410748 h 2425905"/>
                  <a:gd name="connsiteX6" fmla="*/ 7559 w 1866587"/>
                  <a:gd name="connsiteY6" fmla="*/ 717917 h 2425905"/>
                  <a:gd name="connsiteX7" fmla="*/ 494237 w 1866587"/>
                  <a:gd name="connsiteY7" fmla="*/ 717917 h 2425905"/>
                  <a:gd name="connsiteX8" fmla="*/ 506976 w 1866587"/>
                  <a:gd name="connsiteY8" fmla="*/ 0 h 2425905"/>
                  <a:gd name="connsiteX0" fmla="*/ 495099 w 1866587"/>
                  <a:gd name="connsiteY0" fmla="*/ 0 h 2430656"/>
                  <a:gd name="connsiteX1" fmla="*/ 1367824 w 1866587"/>
                  <a:gd name="connsiteY1" fmla="*/ 4751 h 2430656"/>
                  <a:gd name="connsiteX2" fmla="*/ 1367824 w 1866587"/>
                  <a:gd name="connsiteY2" fmla="*/ 737782 h 2430656"/>
                  <a:gd name="connsiteX3" fmla="*/ 1866587 w 1866587"/>
                  <a:gd name="connsiteY3" fmla="*/ 737782 h 2430656"/>
                  <a:gd name="connsiteX4" fmla="*/ 1866587 w 1866587"/>
                  <a:gd name="connsiteY4" fmla="*/ 2430656 h 2430656"/>
                  <a:gd name="connsiteX5" fmla="*/ 0 w 1866587"/>
                  <a:gd name="connsiteY5" fmla="*/ 2415499 h 2430656"/>
                  <a:gd name="connsiteX6" fmla="*/ 7559 w 1866587"/>
                  <a:gd name="connsiteY6" fmla="*/ 722668 h 2430656"/>
                  <a:gd name="connsiteX7" fmla="*/ 494237 w 1866587"/>
                  <a:gd name="connsiteY7" fmla="*/ 722668 h 2430656"/>
                  <a:gd name="connsiteX8" fmla="*/ 495099 w 1866587"/>
                  <a:gd name="connsiteY8" fmla="*/ 0 h 243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66587" h="2430656">
                    <a:moveTo>
                      <a:pt x="495099" y="0"/>
                    </a:moveTo>
                    <a:lnTo>
                      <a:pt x="1367824" y="4751"/>
                    </a:lnTo>
                    <a:lnTo>
                      <a:pt x="1367824" y="737782"/>
                    </a:lnTo>
                    <a:lnTo>
                      <a:pt x="1866587" y="737782"/>
                    </a:lnTo>
                    <a:lnTo>
                      <a:pt x="1866587" y="2430656"/>
                    </a:lnTo>
                    <a:lnTo>
                      <a:pt x="0" y="2415499"/>
                    </a:lnTo>
                    <a:cubicBezTo>
                      <a:pt x="2520" y="1851222"/>
                      <a:pt x="5039" y="1286945"/>
                      <a:pt x="7559" y="722668"/>
                    </a:cubicBezTo>
                    <a:lnTo>
                      <a:pt x="494237" y="722668"/>
                    </a:lnTo>
                    <a:cubicBezTo>
                      <a:pt x="494524" y="481779"/>
                      <a:pt x="494812" y="240889"/>
                      <a:pt x="495099" y="0"/>
                    </a:cubicBezTo>
                    <a:close/>
                  </a:path>
                </a:pathLst>
              </a:cu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cxnSp>
            <p:nvCxnSpPr>
              <p:cNvPr id="1068" name="Straight Connector 1067">
                <a:extLst>
                  <a:ext uri="{FF2B5EF4-FFF2-40B4-BE49-F238E27FC236}">
                    <a16:creationId xmlns:a16="http://schemas.microsoft.com/office/drawing/2014/main" id="{51021BAB-F1FD-BFAD-4CF0-690E669BD9CE}"/>
                  </a:ext>
                </a:extLst>
              </p:cNvPr>
              <p:cNvCxnSpPr/>
              <p:nvPr/>
            </p:nvCxnSpPr>
            <p:spPr>
              <a:xfrm>
                <a:off x="9348" y="1656404"/>
                <a:ext cx="1862124" cy="3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64" name="Group 1063">
              <a:extLst>
                <a:ext uri="{FF2B5EF4-FFF2-40B4-BE49-F238E27FC236}">
                  <a16:creationId xmlns:a16="http://schemas.microsoft.com/office/drawing/2014/main" id="{F7AB70AE-1DA1-C539-24C3-5EEC4FBCC9D1}"/>
                </a:ext>
              </a:extLst>
            </p:cNvPr>
            <p:cNvGrpSpPr/>
            <p:nvPr/>
          </p:nvGrpSpPr>
          <p:grpSpPr>
            <a:xfrm>
              <a:off x="1812339" y="3294910"/>
              <a:ext cx="666750" cy="865909"/>
              <a:chOff x="0" y="0"/>
              <a:chExt cx="1871472" cy="2430656"/>
            </a:xfrm>
          </p:grpSpPr>
          <p:sp>
            <p:nvSpPr>
              <p:cNvPr id="1065" name="Freeform: Shape 1064">
                <a:extLst>
                  <a:ext uri="{FF2B5EF4-FFF2-40B4-BE49-F238E27FC236}">
                    <a16:creationId xmlns:a16="http://schemas.microsoft.com/office/drawing/2014/main" id="{BC728640-6DBD-9CFA-E535-563E341BE079}"/>
                  </a:ext>
                </a:extLst>
              </p:cNvPr>
              <p:cNvSpPr/>
              <p:nvPr/>
            </p:nvSpPr>
            <p:spPr>
              <a:xfrm>
                <a:off x="0" y="0"/>
                <a:ext cx="1866587" cy="2430656"/>
              </a:xfrm>
              <a:custGeom>
                <a:avLst/>
                <a:gdLst>
                  <a:gd name="connsiteX0" fmla="*/ 468536 w 1859028"/>
                  <a:gd name="connsiteY0" fmla="*/ 0 h 1586975"/>
                  <a:gd name="connsiteX1" fmla="*/ 1360265 w 1859028"/>
                  <a:gd name="connsiteY1" fmla="*/ 0 h 1586975"/>
                  <a:gd name="connsiteX2" fmla="*/ 1360265 w 1859028"/>
                  <a:gd name="connsiteY2" fmla="*/ 733031 h 1586975"/>
                  <a:gd name="connsiteX3" fmla="*/ 1859028 w 1859028"/>
                  <a:gd name="connsiteY3" fmla="*/ 733031 h 1586975"/>
                  <a:gd name="connsiteX4" fmla="*/ 1859028 w 1859028"/>
                  <a:gd name="connsiteY4" fmla="*/ 1586975 h 1586975"/>
                  <a:gd name="connsiteX5" fmla="*/ 0 w 1859028"/>
                  <a:gd name="connsiteY5" fmla="*/ 1586975 h 1586975"/>
                  <a:gd name="connsiteX6" fmla="*/ 0 w 1859028"/>
                  <a:gd name="connsiteY6" fmla="*/ 717917 h 1586975"/>
                  <a:gd name="connsiteX7" fmla="*/ 453422 w 1859028"/>
                  <a:gd name="connsiteY7" fmla="*/ 717917 h 1586975"/>
                  <a:gd name="connsiteX8" fmla="*/ 468536 w 1859028"/>
                  <a:gd name="connsiteY8" fmla="*/ 0 h 1586975"/>
                  <a:gd name="connsiteX0" fmla="*/ 476095 w 1866587"/>
                  <a:gd name="connsiteY0" fmla="*/ 0 h 2410748"/>
                  <a:gd name="connsiteX1" fmla="*/ 1367824 w 1866587"/>
                  <a:gd name="connsiteY1" fmla="*/ 0 h 2410748"/>
                  <a:gd name="connsiteX2" fmla="*/ 1367824 w 1866587"/>
                  <a:gd name="connsiteY2" fmla="*/ 733031 h 2410748"/>
                  <a:gd name="connsiteX3" fmla="*/ 1866587 w 1866587"/>
                  <a:gd name="connsiteY3" fmla="*/ 733031 h 2410748"/>
                  <a:gd name="connsiteX4" fmla="*/ 1866587 w 1866587"/>
                  <a:gd name="connsiteY4" fmla="*/ 1586975 h 2410748"/>
                  <a:gd name="connsiteX5" fmla="*/ 0 w 1866587"/>
                  <a:gd name="connsiteY5" fmla="*/ 2410748 h 2410748"/>
                  <a:gd name="connsiteX6" fmla="*/ 7559 w 1866587"/>
                  <a:gd name="connsiteY6" fmla="*/ 717917 h 2410748"/>
                  <a:gd name="connsiteX7" fmla="*/ 460981 w 1866587"/>
                  <a:gd name="connsiteY7" fmla="*/ 717917 h 2410748"/>
                  <a:gd name="connsiteX8" fmla="*/ 476095 w 1866587"/>
                  <a:gd name="connsiteY8" fmla="*/ 0 h 2410748"/>
                  <a:gd name="connsiteX0" fmla="*/ 476095 w 1866587"/>
                  <a:gd name="connsiteY0" fmla="*/ 0 h 2425905"/>
                  <a:gd name="connsiteX1" fmla="*/ 1367824 w 1866587"/>
                  <a:gd name="connsiteY1" fmla="*/ 0 h 2425905"/>
                  <a:gd name="connsiteX2" fmla="*/ 1367824 w 1866587"/>
                  <a:gd name="connsiteY2" fmla="*/ 733031 h 2425905"/>
                  <a:gd name="connsiteX3" fmla="*/ 1866587 w 1866587"/>
                  <a:gd name="connsiteY3" fmla="*/ 733031 h 2425905"/>
                  <a:gd name="connsiteX4" fmla="*/ 1866587 w 1866587"/>
                  <a:gd name="connsiteY4" fmla="*/ 2425905 h 2425905"/>
                  <a:gd name="connsiteX5" fmla="*/ 0 w 1866587"/>
                  <a:gd name="connsiteY5" fmla="*/ 2410748 h 2425905"/>
                  <a:gd name="connsiteX6" fmla="*/ 7559 w 1866587"/>
                  <a:gd name="connsiteY6" fmla="*/ 717917 h 2425905"/>
                  <a:gd name="connsiteX7" fmla="*/ 460981 w 1866587"/>
                  <a:gd name="connsiteY7" fmla="*/ 717917 h 2425905"/>
                  <a:gd name="connsiteX8" fmla="*/ 476095 w 1866587"/>
                  <a:gd name="connsiteY8" fmla="*/ 0 h 2425905"/>
                  <a:gd name="connsiteX0" fmla="*/ 476095 w 1866587"/>
                  <a:gd name="connsiteY0" fmla="*/ 0 h 2425905"/>
                  <a:gd name="connsiteX1" fmla="*/ 1367824 w 1866587"/>
                  <a:gd name="connsiteY1" fmla="*/ 0 h 2425905"/>
                  <a:gd name="connsiteX2" fmla="*/ 1367824 w 1866587"/>
                  <a:gd name="connsiteY2" fmla="*/ 733031 h 2425905"/>
                  <a:gd name="connsiteX3" fmla="*/ 1866587 w 1866587"/>
                  <a:gd name="connsiteY3" fmla="*/ 733031 h 2425905"/>
                  <a:gd name="connsiteX4" fmla="*/ 1866587 w 1866587"/>
                  <a:gd name="connsiteY4" fmla="*/ 2425905 h 2425905"/>
                  <a:gd name="connsiteX5" fmla="*/ 0 w 1866587"/>
                  <a:gd name="connsiteY5" fmla="*/ 2410748 h 2425905"/>
                  <a:gd name="connsiteX6" fmla="*/ 7559 w 1866587"/>
                  <a:gd name="connsiteY6" fmla="*/ 717917 h 2425905"/>
                  <a:gd name="connsiteX7" fmla="*/ 494237 w 1866587"/>
                  <a:gd name="connsiteY7" fmla="*/ 717917 h 2425905"/>
                  <a:gd name="connsiteX8" fmla="*/ 476095 w 1866587"/>
                  <a:gd name="connsiteY8" fmla="*/ 0 h 2425905"/>
                  <a:gd name="connsiteX0" fmla="*/ 506976 w 1866587"/>
                  <a:gd name="connsiteY0" fmla="*/ 0 h 2425905"/>
                  <a:gd name="connsiteX1" fmla="*/ 1367824 w 1866587"/>
                  <a:gd name="connsiteY1" fmla="*/ 0 h 2425905"/>
                  <a:gd name="connsiteX2" fmla="*/ 1367824 w 1866587"/>
                  <a:gd name="connsiteY2" fmla="*/ 733031 h 2425905"/>
                  <a:gd name="connsiteX3" fmla="*/ 1866587 w 1866587"/>
                  <a:gd name="connsiteY3" fmla="*/ 733031 h 2425905"/>
                  <a:gd name="connsiteX4" fmla="*/ 1866587 w 1866587"/>
                  <a:gd name="connsiteY4" fmla="*/ 2425905 h 2425905"/>
                  <a:gd name="connsiteX5" fmla="*/ 0 w 1866587"/>
                  <a:gd name="connsiteY5" fmla="*/ 2410748 h 2425905"/>
                  <a:gd name="connsiteX6" fmla="*/ 7559 w 1866587"/>
                  <a:gd name="connsiteY6" fmla="*/ 717917 h 2425905"/>
                  <a:gd name="connsiteX7" fmla="*/ 494237 w 1866587"/>
                  <a:gd name="connsiteY7" fmla="*/ 717917 h 2425905"/>
                  <a:gd name="connsiteX8" fmla="*/ 506976 w 1866587"/>
                  <a:gd name="connsiteY8" fmla="*/ 0 h 2425905"/>
                  <a:gd name="connsiteX0" fmla="*/ 495099 w 1866587"/>
                  <a:gd name="connsiteY0" fmla="*/ 0 h 2430656"/>
                  <a:gd name="connsiteX1" fmla="*/ 1367824 w 1866587"/>
                  <a:gd name="connsiteY1" fmla="*/ 4751 h 2430656"/>
                  <a:gd name="connsiteX2" fmla="*/ 1367824 w 1866587"/>
                  <a:gd name="connsiteY2" fmla="*/ 737782 h 2430656"/>
                  <a:gd name="connsiteX3" fmla="*/ 1866587 w 1866587"/>
                  <a:gd name="connsiteY3" fmla="*/ 737782 h 2430656"/>
                  <a:gd name="connsiteX4" fmla="*/ 1866587 w 1866587"/>
                  <a:gd name="connsiteY4" fmla="*/ 2430656 h 2430656"/>
                  <a:gd name="connsiteX5" fmla="*/ 0 w 1866587"/>
                  <a:gd name="connsiteY5" fmla="*/ 2415499 h 2430656"/>
                  <a:gd name="connsiteX6" fmla="*/ 7559 w 1866587"/>
                  <a:gd name="connsiteY6" fmla="*/ 722668 h 2430656"/>
                  <a:gd name="connsiteX7" fmla="*/ 494237 w 1866587"/>
                  <a:gd name="connsiteY7" fmla="*/ 722668 h 2430656"/>
                  <a:gd name="connsiteX8" fmla="*/ 495099 w 1866587"/>
                  <a:gd name="connsiteY8" fmla="*/ 0 h 243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66587" h="2430656">
                    <a:moveTo>
                      <a:pt x="495099" y="0"/>
                    </a:moveTo>
                    <a:lnTo>
                      <a:pt x="1367824" y="4751"/>
                    </a:lnTo>
                    <a:lnTo>
                      <a:pt x="1367824" y="737782"/>
                    </a:lnTo>
                    <a:lnTo>
                      <a:pt x="1866587" y="737782"/>
                    </a:lnTo>
                    <a:lnTo>
                      <a:pt x="1866587" y="2430656"/>
                    </a:lnTo>
                    <a:lnTo>
                      <a:pt x="0" y="2415499"/>
                    </a:lnTo>
                    <a:cubicBezTo>
                      <a:pt x="2520" y="1851222"/>
                      <a:pt x="5039" y="1286945"/>
                      <a:pt x="7559" y="722668"/>
                    </a:cubicBezTo>
                    <a:lnTo>
                      <a:pt x="494237" y="722668"/>
                    </a:lnTo>
                    <a:cubicBezTo>
                      <a:pt x="494524" y="481779"/>
                      <a:pt x="494812" y="240889"/>
                      <a:pt x="495099" y="0"/>
                    </a:cubicBezTo>
                    <a:close/>
                  </a:path>
                </a:pathLst>
              </a:cu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cxnSp>
            <p:nvCxnSpPr>
              <p:cNvPr id="1066" name="Straight Connector 1065">
                <a:extLst>
                  <a:ext uri="{FF2B5EF4-FFF2-40B4-BE49-F238E27FC236}">
                    <a16:creationId xmlns:a16="http://schemas.microsoft.com/office/drawing/2014/main" id="{1B18DCF8-9535-6931-B9F1-72B8B7B62B76}"/>
                  </a:ext>
                </a:extLst>
              </p:cNvPr>
              <p:cNvCxnSpPr/>
              <p:nvPr/>
            </p:nvCxnSpPr>
            <p:spPr>
              <a:xfrm>
                <a:off x="9348" y="1656404"/>
                <a:ext cx="1862124" cy="3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076" name="TextBox 1075">
            <a:extLst>
              <a:ext uri="{FF2B5EF4-FFF2-40B4-BE49-F238E27FC236}">
                <a16:creationId xmlns:a16="http://schemas.microsoft.com/office/drawing/2014/main" id="{D55DE320-347D-1C32-488F-C9AC6E2D741F}"/>
              </a:ext>
            </a:extLst>
          </p:cNvPr>
          <p:cNvSpPr txBox="1"/>
          <p:nvPr/>
        </p:nvSpPr>
        <p:spPr>
          <a:xfrm>
            <a:off x="38295954" y="11905353"/>
            <a:ext cx="1722892" cy="646331"/>
          </a:xfrm>
          <a:prstGeom prst="rect">
            <a:avLst/>
          </a:prstGeom>
          <a:noFill/>
          <a:ln>
            <a:solidFill>
              <a:schemeClr val="tx1"/>
            </a:solidFill>
          </a:ln>
        </p:spPr>
        <p:txBody>
          <a:bodyPr wrap="square" rtlCol="0">
            <a:spAutoFit/>
          </a:bodyPr>
          <a:lstStyle/>
          <a:p>
            <a:pPr algn="ctr"/>
            <a:r>
              <a:rPr lang="en-US" dirty="0">
                <a:latin typeface="Arial" panose="020B0604020202020204" pitchFamily="34" charset="0"/>
                <a:cs typeface="Arial" panose="020B0604020202020204" pitchFamily="34" charset="0"/>
              </a:rPr>
              <a:t>Oven casing enclosure </a:t>
            </a:r>
          </a:p>
        </p:txBody>
      </p:sp>
      <p:sp>
        <p:nvSpPr>
          <p:cNvPr id="1077" name="TextBox 1076">
            <a:extLst>
              <a:ext uri="{FF2B5EF4-FFF2-40B4-BE49-F238E27FC236}">
                <a16:creationId xmlns:a16="http://schemas.microsoft.com/office/drawing/2014/main" id="{96CF629C-33B5-39D2-77F2-B26DEEF40A56}"/>
              </a:ext>
            </a:extLst>
          </p:cNvPr>
          <p:cNvSpPr txBox="1"/>
          <p:nvPr/>
        </p:nvSpPr>
        <p:spPr>
          <a:xfrm>
            <a:off x="41798934" y="14327971"/>
            <a:ext cx="1438176" cy="1477328"/>
          </a:xfrm>
          <a:prstGeom prst="rect">
            <a:avLst/>
          </a:prstGeom>
          <a:noFill/>
          <a:ln>
            <a:solidFill>
              <a:schemeClr val="tx1"/>
            </a:solidFill>
          </a:ln>
        </p:spPr>
        <p:txBody>
          <a:bodyPr wrap="square" rtlCol="0">
            <a:spAutoFit/>
          </a:bodyPr>
          <a:lstStyle/>
          <a:p>
            <a:pPr algn="ctr"/>
            <a:r>
              <a:rPr lang="en-US" dirty="0">
                <a:latin typeface="Arial" panose="020B0604020202020204" pitchFamily="34" charset="0"/>
                <a:cs typeface="Arial" panose="020B0604020202020204" pitchFamily="34" charset="0"/>
              </a:rPr>
              <a:t>PID Controller/</a:t>
            </a:r>
          </a:p>
          <a:p>
            <a:pPr algn="ctr"/>
            <a:r>
              <a:rPr lang="en-US" dirty="0">
                <a:latin typeface="Arial" panose="020B0604020202020204" pitchFamily="34" charset="0"/>
                <a:cs typeface="Arial" panose="020B0604020202020204" pitchFamily="34" charset="0"/>
              </a:rPr>
              <a:t>On-screen temperature display </a:t>
            </a:r>
          </a:p>
        </p:txBody>
      </p:sp>
      <p:sp>
        <p:nvSpPr>
          <p:cNvPr id="1078" name="TextBox 1077">
            <a:extLst>
              <a:ext uri="{FF2B5EF4-FFF2-40B4-BE49-F238E27FC236}">
                <a16:creationId xmlns:a16="http://schemas.microsoft.com/office/drawing/2014/main" id="{BD5BFEB8-CBDD-0E74-2F97-EB36C132762B}"/>
              </a:ext>
            </a:extLst>
          </p:cNvPr>
          <p:cNvSpPr txBox="1"/>
          <p:nvPr/>
        </p:nvSpPr>
        <p:spPr>
          <a:xfrm>
            <a:off x="40018846" y="13260930"/>
            <a:ext cx="1383607" cy="646331"/>
          </a:xfrm>
          <a:prstGeom prst="rect">
            <a:avLst/>
          </a:prstGeom>
          <a:noFill/>
          <a:ln>
            <a:solidFill>
              <a:schemeClr val="tx1"/>
            </a:solidFill>
          </a:ln>
        </p:spPr>
        <p:txBody>
          <a:bodyPr wrap="square" rtlCol="0">
            <a:spAutoFit/>
          </a:bodyPr>
          <a:lstStyle/>
          <a:p>
            <a:pPr algn="ctr"/>
            <a:r>
              <a:rPr lang="en-US" dirty="0">
                <a:latin typeface="Arial" panose="020B0604020202020204" pitchFamily="34" charset="0"/>
                <a:cs typeface="Arial" panose="020B0604020202020204" pitchFamily="34" charset="0"/>
              </a:rPr>
              <a:t>Heat Insulation</a:t>
            </a:r>
          </a:p>
        </p:txBody>
      </p:sp>
      <p:sp>
        <p:nvSpPr>
          <p:cNvPr id="1079" name="TextBox 1078">
            <a:extLst>
              <a:ext uri="{FF2B5EF4-FFF2-40B4-BE49-F238E27FC236}">
                <a16:creationId xmlns:a16="http://schemas.microsoft.com/office/drawing/2014/main" id="{B4365717-178A-5C4C-0EBB-E029A7E99404}"/>
              </a:ext>
            </a:extLst>
          </p:cNvPr>
          <p:cNvSpPr txBox="1"/>
          <p:nvPr/>
        </p:nvSpPr>
        <p:spPr>
          <a:xfrm>
            <a:off x="39075814" y="17407526"/>
            <a:ext cx="1722892" cy="923330"/>
          </a:xfrm>
          <a:prstGeom prst="rect">
            <a:avLst/>
          </a:prstGeom>
          <a:noFill/>
          <a:ln>
            <a:solidFill>
              <a:schemeClr val="tx1"/>
            </a:solidFill>
          </a:ln>
        </p:spPr>
        <p:txBody>
          <a:bodyPr wrap="square" rtlCol="0">
            <a:spAutoFit/>
          </a:bodyPr>
          <a:lstStyle/>
          <a:p>
            <a:pPr algn="ctr"/>
            <a:r>
              <a:rPr lang="en-US" dirty="0">
                <a:latin typeface="Arial" panose="020B0604020202020204" pitchFamily="34" charset="0"/>
                <a:cs typeface="Arial" panose="020B0604020202020204" pitchFamily="34" charset="0"/>
              </a:rPr>
              <a:t>Aluminum housing with iodine bath </a:t>
            </a:r>
          </a:p>
        </p:txBody>
      </p:sp>
      <p:pic>
        <p:nvPicPr>
          <p:cNvPr id="1082" name="Picture 1081" descr="A blue and black block&#10;&#10;AI-generated content may be incorrect.">
            <a:extLst>
              <a:ext uri="{FF2B5EF4-FFF2-40B4-BE49-F238E27FC236}">
                <a16:creationId xmlns:a16="http://schemas.microsoft.com/office/drawing/2014/main" id="{46433A98-5B8A-80EA-BABB-43CA802D25A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7642797" y="7199663"/>
            <a:ext cx="2852813" cy="4087303"/>
          </a:xfrm>
          <a:prstGeom prst="rect">
            <a:avLst/>
          </a:prstGeom>
        </p:spPr>
      </p:pic>
      <p:pic>
        <p:nvPicPr>
          <p:cNvPr id="1084" name="Picture 1083" descr="A drawing of a mechanical device&#10;&#10;AI-generated content may be incorrect.">
            <a:extLst>
              <a:ext uri="{FF2B5EF4-FFF2-40B4-BE49-F238E27FC236}">
                <a16:creationId xmlns:a16="http://schemas.microsoft.com/office/drawing/2014/main" id="{BC1BE4D9-6295-632A-EF15-59BA2BF8163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0620375" y="4870864"/>
            <a:ext cx="2857899" cy="7078063"/>
          </a:xfrm>
          <a:prstGeom prst="rect">
            <a:avLst/>
          </a:prstGeom>
        </p:spPr>
      </p:pic>
      <p:sp>
        <p:nvSpPr>
          <p:cNvPr id="1085" name="TextBox 1084">
            <a:extLst>
              <a:ext uri="{FF2B5EF4-FFF2-40B4-BE49-F238E27FC236}">
                <a16:creationId xmlns:a16="http://schemas.microsoft.com/office/drawing/2014/main" id="{36F521F9-AC7B-EF3B-97EF-D35D6C31F326}"/>
              </a:ext>
            </a:extLst>
          </p:cNvPr>
          <p:cNvSpPr txBox="1"/>
          <p:nvPr/>
        </p:nvSpPr>
        <p:spPr>
          <a:xfrm>
            <a:off x="38168123" y="5276133"/>
            <a:ext cx="1616289" cy="1200329"/>
          </a:xfrm>
          <a:prstGeom prst="rect">
            <a:avLst/>
          </a:prstGeom>
          <a:noFill/>
          <a:ln>
            <a:solidFill>
              <a:schemeClr val="tx1"/>
            </a:solidFill>
          </a:ln>
        </p:spPr>
        <p:txBody>
          <a:bodyPr wrap="square" rtlCol="0">
            <a:spAutoFit/>
          </a:bodyPr>
          <a:lstStyle/>
          <a:p>
            <a:pPr algn="ctr"/>
            <a:r>
              <a:rPr lang="en-US" dirty="0">
                <a:latin typeface="Arial" panose="020B0604020202020204" pitchFamily="34" charset="0"/>
                <a:cs typeface="Arial" panose="020B0604020202020204" pitchFamily="34" charset="0"/>
              </a:rPr>
              <a:t>Machined press to melt polyethylene films </a:t>
            </a:r>
          </a:p>
        </p:txBody>
      </p:sp>
      <p:pic>
        <p:nvPicPr>
          <p:cNvPr id="198" name="Picture 197" descr="A close-up of a card&#10;&#10;AI-generated content may be incorrect.">
            <a:extLst>
              <a:ext uri="{FF2B5EF4-FFF2-40B4-BE49-F238E27FC236}">
                <a16:creationId xmlns:a16="http://schemas.microsoft.com/office/drawing/2014/main" id="{B825B25E-6871-852A-B413-1BEC422A5F65}"/>
              </a:ext>
            </a:extLst>
          </p:cNvPr>
          <p:cNvPicPr>
            <a:picLocks noChangeAspect="1"/>
          </p:cNvPicPr>
          <p:nvPr/>
        </p:nvPicPr>
        <p:blipFill>
          <a:blip r:embed="rId15">
            <a:extLst>
              <a:ext uri="{28A0092B-C50C-407E-A947-70E740481C1C}">
                <a14:useLocalDpi xmlns:a14="http://schemas.microsoft.com/office/drawing/2010/main" val="0"/>
              </a:ext>
            </a:extLst>
          </a:blip>
          <a:srcRect l="14958" t="1662" r="11819" b="3543"/>
          <a:stretch>
            <a:fillRect/>
          </a:stretch>
        </p:blipFill>
        <p:spPr>
          <a:xfrm>
            <a:off x="4783109" y="22188994"/>
            <a:ext cx="1242829" cy="7749656"/>
          </a:xfrm>
          <a:prstGeom prst="rect">
            <a:avLst/>
          </a:prstGeom>
        </p:spPr>
      </p:pic>
      <p:sp>
        <p:nvSpPr>
          <p:cNvPr id="200" name="TextBox 199">
            <a:extLst>
              <a:ext uri="{FF2B5EF4-FFF2-40B4-BE49-F238E27FC236}">
                <a16:creationId xmlns:a16="http://schemas.microsoft.com/office/drawing/2014/main" id="{969DBEA8-71AE-29A6-776D-A1FB9214AEEA}"/>
              </a:ext>
            </a:extLst>
          </p:cNvPr>
          <p:cNvSpPr txBox="1"/>
          <p:nvPr/>
        </p:nvSpPr>
        <p:spPr>
          <a:xfrm>
            <a:off x="2648645" y="22467951"/>
            <a:ext cx="1616289" cy="646331"/>
          </a:xfrm>
          <a:prstGeom prst="rect">
            <a:avLst/>
          </a:prstGeom>
          <a:noFill/>
          <a:ln>
            <a:solidFill>
              <a:schemeClr val="tx1"/>
            </a:solidFill>
          </a:ln>
        </p:spPr>
        <p:txBody>
          <a:bodyPr wrap="square" rtlCol="0">
            <a:spAutoFit/>
          </a:bodyPr>
          <a:lstStyle/>
          <a:p>
            <a:pPr algn="ctr"/>
            <a:r>
              <a:rPr lang="en-US" dirty="0">
                <a:latin typeface="Arial" panose="020B0604020202020204" pitchFamily="34" charset="0"/>
                <a:cs typeface="Arial" panose="020B0604020202020204" pitchFamily="34" charset="0"/>
              </a:rPr>
              <a:t>Aluminum magazine </a:t>
            </a:r>
          </a:p>
        </p:txBody>
      </p:sp>
      <p:sp>
        <p:nvSpPr>
          <p:cNvPr id="202" name="TextBox 201">
            <a:extLst>
              <a:ext uri="{FF2B5EF4-FFF2-40B4-BE49-F238E27FC236}">
                <a16:creationId xmlns:a16="http://schemas.microsoft.com/office/drawing/2014/main" id="{1D1D60B6-3516-EBC6-67DF-4BD2AC4F1D3E}"/>
              </a:ext>
            </a:extLst>
          </p:cNvPr>
          <p:cNvSpPr txBox="1"/>
          <p:nvPr/>
        </p:nvSpPr>
        <p:spPr>
          <a:xfrm>
            <a:off x="2648645" y="27423866"/>
            <a:ext cx="1616289" cy="1477328"/>
          </a:xfrm>
          <a:prstGeom prst="rect">
            <a:avLst/>
          </a:prstGeom>
          <a:noFill/>
          <a:ln>
            <a:solidFill>
              <a:schemeClr val="tx1"/>
            </a:solidFill>
          </a:ln>
        </p:spPr>
        <p:txBody>
          <a:bodyPr wrap="square" rtlCol="0">
            <a:spAutoFit/>
          </a:bodyPr>
          <a:lstStyle/>
          <a:p>
            <a:pPr algn="ctr"/>
            <a:r>
              <a:rPr lang="en-US" dirty="0">
                <a:latin typeface="Arial" panose="020B0604020202020204" pitchFamily="34" charset="0"/>
                <a:cs typeface="Arial" panose="020B0604020202020204" pitchFamily="34" charset="0"/>
              </a:rPr>
              <a:t>Metal washers to house nanowire templates </a:t>
            </a:r>
          </a:p>
        </p:txBody>
      </p:sp>
      <p:sp>
        <p:nvSpPr>
          <p:cNvPr id="210" name="TextBox 209">
            <a:extLst>
              <a:ext uri="{FF2B5EF4-FFF2-40B4-BE49-F238E27FC236}">
                <a16:creationId xmlns:a16="http://schemas.microsoft.com/office/drawing/2014/main" id="{BB50E7C7-D8C0-E677-CDAC-5B0D7057FA5A}"/>
              </a:ext>
            </a:extLst>
          </p:cNvPr>
          <p:cNvSpPr txBox="1"/>
          <p:nvPr/>
        </p:nvSpPr>
        <p:spPr>
          <a:xfrm>
            <a:off x="40192036" y="8264325"/>
            <a:ext cx="1310506" cy="646331"/>
          </a:xfrm>
          <a:prstGeom prst="rect">
            <a:avLst/>
          </a:prstGeom>
          <a:noFill/>
          <a:ln>
            <a:solidFill>
              <a:schemeClr val="tx1"/>
            </a:solidFill>
          </a:ln>
        </p:spPr>
        <p:txBody>
          <a:bodyPr wrap="square" rtlCol="0">
            <a:spAutoFit/>
          </a:bodyPr>
          <a:lstStyle/>
          <a:p>
            <a:pPr algn="ctr"/>
            <a:r>
              <a:rPr lang="en-US" dirty="0">
                <a:latin typeface="Arial" panose="020B0604020202020204" pitchFamily="34" charset="0"/>
                <a:cs typeface="Arial" panose="020B0604020202020204" pitchFamily="34" charset="0"/>
              </a:rPr>
              <a:t>Spring to apply force</a:t>
            </a:r>
          </a:p>
        </p:txBody>
      </p:sp>
      <p:sp>
        <p:nvSpPr>
          <p:cNvPr id="211" name="TextBox 210">
            <a:extLst>
              <a:ext uri="{FF2B5EF4-FFF2-40B4-BE49-F238E27FC236}">
                <a16:creationId xmlns:a16="http://schemas.microsoft.com/office/drawing/2014/main" id="{9195A338-64B6-E19D-AC91-35B36CCF7A2C}"/>
              </a:ext>
            </a:extLst>
          </p:cNvPr>
          <p:cNvSpPr txBox="1"/>
          <p:nvPr/>
        </p:nvSpPr>
        <p:spPr>
          <a:xfrm>
            <a:off x="42518022" y="9325778"/>
            <a:ext cx="955625" cy="646331"/>
          </a:xfrm>
          <a:prstGeom prst="rect">
            <a:avLst/>
          </a:prstGeom>
          <a:noFill/>
          <a:ln>
            <a:solidFill>
              <a:schemeClr val="tx1"/>
            </a:solidFill>
          </a:ln>
        </p:spPr>
        <p:txBody>
          <a:bodyPr wrap="square" rtlCol="0">
            <a:spAutoFit/>
          </a:bodyPr>
          <a:lstStyle/>
          <a:p>
            <a:pPr algn="ctr"/>
            <a:r>
              <a:rPr lang="en-US" dirty="0">
                <a:latin typeface="Arial" panose="020B0604020202020204" pitchFamily="34" charset="0"/>
                <a:cs typeface="Arial" panose="020B0604020202020204" pitchFamily="34" charset="0"/>
              </a:rPr>
              <a:t>Teflon holder</a:t>
            </a:r>
          </a:p>
        </p:txBody>
      </p:sp>
      <p:cxnSp>
        <p:nvCxnSpPr>
          <p:cNvPr id="213" name="Straight Arrow Connector 212">
            <a:extLst>
              <a:ext uri="{FF2B5EF4-FFF2-40B4-BE49-F238E27FC236}">
                <a16:creationId xmlns:a16="http://schemas.microsoft.com/office/drawing/2014/main" id="{960F83EB-8ABA-BADE-2933-81A5343106FF}"/>
              </a:ext>
            </a:extLst>
          </p:cNvPr>
          <p:cNvCxnSpPr/>
          <p:nvPr/>
        </p:nvCxnSpPr>
        <p:spPr>
          <a:xfrm flipV="1">
            <a:off x="39935727" y="16336718"/>
            <a:ext cx="193964" cy="1071518"/>
          </a:xfrm>
          <a:prstGeom prst="straightConnector1">
            <a:avLst/>
          </a:prstGeom>
          <a:ln w="127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3" name="Straight Arrow Connector 222">
            <a:extLst>
              <a:ext uri="{FF2B5EF4-FFF2-40B4-BE49-F238E27FC236}">
                <a16:creationId xmlns:a16="http://schemas.microsoft.com/office/drawing/2014/main" id="{6662289F-C6E6-E32D-7A28-782123098065}"/>
              </a:ext>
            </a:extLst>
          </p:cNvPr>
          <p:cNvCxnSpPr>
            <a:cxnSpLocks/>
            <a:stCxn id="200" idx="3"/>
          </p:cNvCxnSpPr>
          <p:nvPr/>
        </p:nvCxnSpPr>
        <p:spPr>
          <a:xfrm>
            <a:off x="4264934" y="22791117"/>
            <a:ext cx="754839" cy="32316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062D2D45-E64B-5979-50C2-B6F90F197420}"/>
              </a:ext>
            </a:extLst>
          </p:cNvPr>
          <p:cNvCxnSpPr>
            <a:cxnSpLocks/>
          </p:cNvCxnSpPr>
          <p:nvPr/>
        </p:nvCxnSpPr>
        <p:spPr>
          <a:xfrm flipV="1">
            <a:off x="4264934" y="27289264"/>
            <a:ext cx="608602" cy="90468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34" name="TextBox 233">
            <a:extLst>
              <a:ext uri="{FF2B5EF4-FFF2-40B4-BE49-F238E27FC236}">
                <a16:creationId xmlns:a16="http://schemas.microsoft.com/office/drawing/2014/main" id="{2CA3DBC1-CFFE-3AF0-81C0-A9B6B6F2B27F}"/>
              </a:ext>
            </a:extLst>
          </p:cNvPr>
          <p:cNvSpPr txBox="1"/>
          <p:nvPr/>
        </p:nvSpPr>
        <p:spPr>
          <a:xfrm>
            <a:off x="6456345" y="22324337"/>
            <a:ext cx="7842569" cy="7478970"/>
          </a:xfrm>
          <a:prstGeom prst="rect">
            <a:avLst/>
          </a:prstGeom>
          <a:noFill/>
          <a:ln>
            <a:solidFill>
              <a:schemeClr val="tx1"/>
            </a:solidFill>
          </a:ln>
        </p:spPr>
        <p:txBody>
          <a:bodyPr wrap="square" rtlCol="0">
            <a:spAutoFit/>
          </a:bodyPr>
          <a:lstStyle/>
          <a:p>
            <a:pPr marL="457200" indent="-457200" algn="just">
              <a:spcBef>
                <a:spcPts val="600"/>
              </a:spcBef>
              <a:buFont typeface="Wingdings" panose="05000000000000000000" pitchFamily="2" charset="2"/>
              <a:buChar char="Ø"/>
            </a:pPr>
            <a:r>
              <a:rPr lang="en-US" sz="3200" dirty="0">
                <a:latin typeface="Arial" panose="020B0604020202020204" pitchFamily="34" charset="0"/>
                <a:cs typeface="Arial" panose="020B0604020202020204" pitchFamily="34" charset="0"/>
              </a:rPr>
              <a:t>Cut-out samples are placed on washers due to the central hole/opening, which ensures effective transmittance of photons on the back reflection detectors, subsequently ensuring consistent, and reliable results. </a:t>
            </a:r>
          </a:p>
          <a:p>
            <a:pPr marL="457200" indent="-457200" algn="just">
              <a:buFont typeface="Wingdings" panose="05000000000000000000" pitchFamily="2" charset="2"/>
              <a:buChar char="Ø"/>
            </a:pPr>
            <a:r>
              <a:rPr lang="en-US" sz="3200" dirty="0">
                <a:latin typeface="Arial" panose="020B0604020202020204" pitchFamily="34" charset="0"/>
                <a:cs typeface="Arial" panose="020B0604020202020204" pitchFamily="34" charset="0"/>
              </a:rPr>
              <a:t>Imaging the wires under an optical microscope serves as a preliminary validation step to assess whether the wires are uniformly spaced or bunched together. </a:t>
            </a:r>
          </a:p>
          <a:p>
            <a:pPr marL="457200" indent="-457200" algn="just">
              <a:buFont typeface="Wingdings" panose="05000000000000000000" pitchFamily="2" charset="2"/>
              <a:buChar char="Ø"/>
            </a:pPr>
            <a:r>
              <a:rPr lang="en-US" sz="3200" dirty="0">
                <a:latin typeface="Arial" panose="020B0604020202020204" pitchFamily="34" charset="0"/>
                <a:cs typeface="Arial" panose="020B0604020202020204" pitchFamily="34" charset="0"/>
              </a:rPr>
              <a:t>Target holders need to be a certain distance away from each other ensuring the heat from irradiation doesn’t affect adjacent samples. </a:t>
            </a:r>
          </a:p>
        </p:txBody>
      </p:sp>
      <p:pic>
        <p:nvPicPr>
          <p:cNvPr id="103" name="Picture 102">
            <a:extLst>
              <a:ext uri="{FF2B5EF4-FFF2-40B4-BE49-F238E27FC236}">
                <a16:creationId xmlns:a16="http://schemas.microsoft.com/office/drawing/2014/main" id="{EA16E2BA-2F42-FD5E-2C19-FD407EB58FFC}"/>
              </a:ext>
            </a:extLst>
          </p:cNvPr>
          <p:cNvPicPr>
            <a:picLocks noChangeAspect="1"/>
          </p:cNvPicPr>
          <p:nvPr/>
        </p:nvPicPr>
        <p:blipFill>
          <a:blip r:embed="rId16"/>
          <a:stretch>
            <a:fillRect/>
          </a:stretch>
        </p:blipFill>
        <p:spPr>
          <a:xfrm>
            <a:off x="588207" y="16887716"/>
            <a:ext cx="13965599" cy="5012845"/>
          </a:xfrm>
          <a:prstGeom prst="rect">
            <a:avLst/>
          </a:prstGeom>
        </p:spPr>
      </p:pic>
      <p:pic>
        <p:nvPicPr>
          <p:cNvPr id="1052" name="Picture 1051" descr="A metal cylinder with a screw on a wood surface&#10;&#10;AI-generated content may be incorrect.">
            <a:extLst>
              <a:ext uri="{FF2B5EF4-FFF2-40B4-BE49-F238E27FC236}">
                <a16:creationId xmlns:a16="http://schemas.microsoft.com/office/drawing/2014/main" id="{C669041E-1B85-9537-69EA-9037E63CBACA}"/>
              </a:ext>
            </a:extLst>
          </p:cNvPr>
          <p:cNvPicPr>
            <a:picLocks noChangeAspect="1"/>
          </p:cNvPicPr>
          <p:nvPr/>
        </p:nvPicPr>
        <p:blipFill>
          <a:blip r:embed="rId17">
            <a:extLst>
              <a:ext uri="{28A0092B-C50C-407E-A947-70E740481C1C}">
                <a14:useLocalDpi xmlns:a14="http://schemas.microsoft.com/office/drawing/2010/main" val="0"/>
              </a:ext>
            </a:extLst>
          </a:blip>
          <a:srcRect l="30261" t="31748" r="44802" b="32560"/>
          <a:stretch>
            <a:fillRect/>
          </a:stretch>
        </p:blipFill>
        <p:spPr>
          <a:xfrm rot="5400000">
            <a:off x="16221705" y="14777806"/>
            <a:ext cx="4739785" cy="5088102"/>
          </a:xfrm>
          <a:prstGeom prst="rect">
            <a:avLst/>
          </a:prstGeom>
          <a:ln>
            <a:solidFill>
              <a:schemeClr val="tx1"/>
            </a:solidFill>
          </a:ln>
        </p:spPr>
      </p:pic>
      <p:pic>
        <p:nvPicPr>
          <p:cNvPr id="1058" name="Picture 1057">
            <a:extLst>
              <a:ext uri="{FF2B5EF4-FFF2-40B4-BE49-F238E27FC236}">
                <a16:creationId xmlns:a16="http://schemas.microsoft.com/office/drawing/2014/main" id="{F4BF5F1E-0CC1-4501-BBB8-CB97902846B8}"/>
              </a:ext>
            </a:extLst>
          </p:cNvPr>
          <p:cNvPicPr>
            <a:picLocks noChangeAspect="1"/>
          </p:cNvPicPr>
          <p:nvPr/>
        </p:nvPicPr>
        <p:blipFill>
          <a:blip r:embed="rId18"/>
          <a:srcRect t="3618"/>
          <a:stretch>
            <a:fillRect/>
          </a:stretch>
        </p:blipFill>
        <p:spPr>
          <a:xfrm>
            <a:off x="23074207" y="6406377"/>
            <a:ext cx="5958722" cy="5542550"/>
          </a:xfrm>
          <a:prstGeom prst="rect">
            <a:avLst/>
          </a:prstGeom>
        </p:spPr>
      </p:pic>
      <p:pic>
        <p:nvPicPr>
          <p:cNvPr id="193" name="Picture 192" descr="A close up of a metal cylinder&#10;&#10;AI-generated content may be incorrect.">
            <a:extLst>
              <a:ext uri="{FF2B5EF4-FFF2-40B4-BE49-F238E27FC236}">
                <a16:creationId xmlns:a16="http://schemas.microsoft.com/office/drawing/2014/main" id="{2A52E072-9FB8-2EB0-06F9-21FBA21A3F7D}"/>
              </a:ext>
            </a:extLst>
          </p:cNvPr>
          <p:cNvPicPr>
            <a:picLocks noChangeAspect="1"/>
          </p:cNvPicPr>
          <p:nvPr/>
        </p:nvPicPr>
        <p:blipFill>
          <a:blip r:embed="rId19" cstate="print">
            <a:extLst>
              <a:ext uri="{28A0092B-C50C-407E-A947-70E740481C1C}">
                <a14:useLocalDpi xmlns:a14="http://schemas.microsoft.com/office/drawing/2010/main" val="0"/>
              </a:ext>
            </a:extLst>
          </a:blip>
          <a:srcRect l="32129" t="27820" r="46036" b="32909"/>
          <a:stretch>
            <a:fillRect/>
          </a:stretch>
        </p:blipFill>
        <p:spPr>
          <a:xfrm rot="5400000">
            <a:off x="38847533" y="19205886"/>
            <a:ext cx="3793576" cy="5117344"/>
          </a:xfrm>
          <a:prstGeom prst="rect">
            <a:avLst/>
          </a:prstGeom>
          <a:ln>
            <a:solidFill>
              <a:schemeClr val="tx1"/>
            </a:solidFill>
          </a:ln>
        </p:spPr>
      </p:pic>
      <p:grpSp>
        <p:nvGrpSpPr>
          <p:cNvPr id="208" name="Group 207">
            <a:extLst>
              <a:ext uri="{FF2B5EF4-FFF2-40B4-BE49-F238E27FC236}">
                <a16:creationId xmlns:a16="http://schemas.microsoft.com/office/drawing/2014/main" id="{3B51DAC7-47D0-8290-2D6A-742BFBBF9879}"/>
              </a:ext>
            </a:extLst>
          </p:cNvPr>
          <p:cNvGrpSpPr/>
          <p:nvPr/>
        </p:nvGrpSpPr>
        <p:grpSpPr>
          <a:xfrm>
            <a:off x="21328425" y="13531655"/>
            <a:ext cx="7663363" cy="7019382"/>
            <a:chOff x="15910560" y="14162662"/>
            <a:chExt cx="6783614" cy="6024491"/>
          </a:xfrm>
        </p:grpSpPr>
        <p:grpSp>
          <p:nvGrpSpPr>
            <p:cNvPr id="206" name="Group 205">
              <a:extLst>
                <a:ext uri="{FF2B5EF4-FFF2-40B4-BE49-F238E27FC236}">
                  <a16:creationId xmlns:a16="http://schemas.microsoft.com/office/drawing/2014/main" id="{603BBAB3-B6C4-E1F0-9522-EBF6440EE817}"/>
                </a:ext>
              </a:extLst>
            </p:cNvPr>
            <p:cNvGrpSpPr/>
            <p:nvPr/>
          </p:nvGrpSpPr>
          <p:grpSpPr>
            <a:xfrm>
              <a:off x="15910560" y="14162662"/>
              <a:ext cx="6537960" cy="6024491"/>
              <a:chOff x="15910560" y="14162662"/>
              <a:chExt cx="6537960" cy="6024491"/>
            </a:xfrm>
          </p:grpSpPr>
          <p:pic>
            <p:nvPicPr>
              <p:cNvPr id="167" name="Picture 166" descr="Diagram of a diagram of a machine&#10;&#10;AI-generated content may be incorrect.">
                <a:extLst>
                  <a:ext uri="{FF2B5EF4-FFF2-40B4-BE49-F238E27FC236}">
                    <a16:creationId xmlns:a16="http://schemas.microsoft.com/office/drawing/2014/main" id="{E3E6DE56-38D3-262F-92DD-4B71D252DBA2}"/>
                  </a:ext>
                </a:extLst>
              </p:cNvPr>
              <p:cNvPicPr>
                <a:picLocks noChangeAspect="1"/>
              </p:cNvPicPr>
              <p:nvPr/>
            </p:nvPicPr>
            <p:blipFill>
              <a:blip r:embed="rId20">
                <a:extLst>
                  <a:ext uri="{28A0092B-C50C-407E-A947-70E740481C1C}">
                    <a14:useLocalDpi xmlns:a14="http://schemas.microsoft.com/office/drawing/2010/main" val="0"/>
                  </a:ext>
                </a:extLst>
              </a:blip>
              <a:srcRect l="1603" t="3611" r="2157" b="5247"/>
              <a:stretch>
                <a:fillRect/>
              </a:stretch>
            </p:blipFill>
            <p:spPr>
              <a:xfrm>
                <a:off x="16093440" y="14334993"/>
                <a:ext cx="6355080" cy="5852160"/>
              </a:xfrm>
              <a:prstGeom prst="rect">
                <a:avLst/>
              </a:prstGeom>
            </p:spPr>
          </p:pic>
          <p:sp>
            <p:nvSpPr>
              <p:cNvPr id="205" name="Rectangle 204">
                <a:extLst>
                  <a:ext uri="{FF2B5EF4-FFF2-40B4-BE49-F238E27FC236}">
                    <a16:creationId xmlns:a16="http://schemas.microsoft.com/office/drawing/2014/main" id="{D6F632EC-D75D-918B-E18E-75B41F41F04B}"/>
                  </a:ext>
                </a:extLst>
              </p:cNvPr>
              <p:cNvSpPr/>
              <p:nvPr/>
            </p:nvSpPr>
            <p:spPr>
              <a:xfrm>
                <a:off x="15910560" y="14162662"/>
                <a:ext cx="318347" cy="3575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7" name="Rectangle 206">
              <a:extLst>
                <a:ext uri="{FF2B5EF4-FFF2-40B4-BE49-F238E27FC236}">
                  <a16:creationId xmlns:a16="http://schemas.microsoft.com/office/drawing/2014/main" id="{C28F4432-BA69-15F3-937F-FA59998865E4}"/>
                </a:ext>
              </a:extLst>
            </p:cNvPr>
            <p:cNvSpPr/>
            <p:nvPr/>
          </p:nvSpPr>
          <p:spPr>
            <a:xfrm>
              <a:off x="22375827" y="14176189"/>
              <a:ext cx="318347" cy="3575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753236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14602</TotalTime>
  <Words>651</Words>
  <Application>Microsoft Office PowerPoint</Application>
  <PresentationFormat>Custom</PresentationFormat>
  <Paragraphs>59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Open Sans</vt:lpstr>
      <vt:lpstr>Wingdings</vt:lpstr>
      <vt:lpstr>Office Theme</vt:lpstr>
      <vt:lpstr>PowerPoint Presentation</vt:lpstr>
    </vt:vector>
  </TitlesOfParts>
  <Company>Colorado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Aaron Davenport</dc:creator>
  <cp:lastModifiedBy>Suthar,Jay</cp:lastModifiedBy>
  <cp:revision>66</cp:revision>
  <dcterms:created xsi:type="dcterms:W3CDTF">2025-05-12T15:26:37Z</dcterms:created>
  <dcterms:modified xsi:type="dcterms:W3CDTF">2025-08-01T22:55:00Z</dcterms:modified>
</cp:coreProperties>
</file>